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5" r:id="rId1"/>
  </p:sldMasterIdLst>
  <p:notesMasterIdLst>
    <p:notesMasterId r:id="rId10"/>
  </p:notesMasterIdLst>
  <p:handoutMasterIdLst>
    <p:handoutMasterId r:id="rId11"/>
  </p:handoutMasterIdLst>
  <p:sldIdLst>
    <p:sldId id="258" r:id="rId2"/>
    <p:sldId id="310" r:id="rId3"/>
    <p:sldId id="339" r:id="rId4"/>
    <p:sldId id="340" r:id="rId5"/>
    <p:sldId id="273" r:id="rId6"/>
    <p:sldId id="299" r:id="rId7"/>
    <p:sldId id="337" r:id="rId8"/>
    <p:sldId id="341" r:id="rId9"/>
  </p:sldIdLst>
  <p:sldSz cx="9144000" cy="6858000" type="screen4x3"/>
  <p:notesSz cx="9144000" cy="6858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lides" id="{1EEC9274-EAD7-4F51-8C69-F07B4B6AA4F5}">
          <p14:sldIdLst>
            <p14:sldId id="258"/>
            <p14:sldId id="310"/>
            <p14:sldId id="339"/>
            <p14:sldId id="340"/>
            <p14:sldId id="273"/>
            <p14:sldId id="299"/>
            <p14:sldId id="337"/>
            <p14:sldId id="341"/>
          </p14:sldIdLst>
        </p14:section>
        <p14:section name="Draft" id="{F37EC883-D50C-480C-92E0-5AFC6C0AE79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E28F"/>
    <a:srgbClr val="0000FF"/>
    <a:srgbClr val="FFF2CC"/>
    <a:srgbClr val="E6E6E6"/>
    <a:srgbClr val="009900"/>
    <a:srgbClr val="A9D18E"/>
    <a:srgbClr val="9DC3E6"/>
    <a:srgbClr val="517D33"/>
    <a:srgbClr val="C5FF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6" autoAdjust="0"/>
    <p:restoredTop sz="86429" autoAdjust="0"/>
  </p:normalViewPr>
  <p:slideViewPr>
    <p:cSldViewPr snapToGrid="0">
      <p:cViewPr varScale="1">
        <p:scale>
          <a:sx n="86" d="100"/>
          <a:sy n="86" d="100"/>
        </p:scale>
        <p:origin x="1464" y="5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478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1"/>
            <a:ext cx="3962400" cy="344091"/>
          </a:xfrm>
          <a:prstGeom prst="rect">
            <a:avLst/>
          </a:prstGeom>
        </p:spPr>
        <p:txBody>
          <a:bodyPr vert="horz" lIns="91440" tIns="45720" rIns="91440" bIns="45720" rtlCol="0"/>
          <a:lstStyle>
            <a:lvl1pPr algn="r">
              <a:defRPr sz="1200"/>
            </a:lvl1pPr>
          </a:lstStyle>
          <a:p>
            <a:fld id="{78F69F2E-EB08-5A4B-906B-BBCCC7D612C2}" type="datetimeFigureOut">
              <a:rPr lang="en-US" smtClean="0"/>
              <a:pPr/>
              <a:t>9/17/2024</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11DC8125-F873-C245-887D-6BCBEF260B59}" type="slidenum">
              <a:rPr lang="en-US" smtClean="0"/>
              <a:pPr/>
              <a:t>‹#›</a:t>
            </a:fld>
            <a:endParaRPr lang="en-US"/>
          </a:p>
        </p:txBody>
      </p:sp>
    </p:spTree>
    <p:extLst>
      <p:ext uri="{BB962C8B-B14F-4D97-AF65-F5344CB8AC3E}">
        <p14:creationId xmlns:p14="http://schemas.microsoft.com/office/powerpoint/2010/main" val="13541447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946475FC-83F0-40D4-A548-E9469454C6C1}" type="datetimeFigureOut">
              <a:rPr lang="el-GR" smtClean="0"/>
              <a:pPr/>
              <a:t>17/9/2024</a:t>
            </a:fld>
            <a:endParaRPr lang="el-GR"/>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5544106-0BA0-40A9-93D0-71BB1B54AA01}" type="slidenum">
              <a:rPr lang="el-GR" smtClean="0"/>
              <a:pPr/>
              <a:t>‹#›</a:t>
            </a:fld>
            <a:endParaRPr lang="el-GR"/>
          </a:p>
        </p:txBody>
      </p:sp>
    </p:spTree>
    <p:extLst>
      <p:ext uri="{BB962C8B-B14F-4D97-AF65-F5344CB8AC3E}">
        <p14:creationId xmlns:p14="http://schemas.microsoft.com/office/powerpoint/2010/main" val="82823113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15"/>
          <p:cNvSpPr>
            <a:spLocks noGrp="1" noChangeArrowheads="1"/>
          </p:cNvSpPr>
          <p:nvPr>
            <p:ph type="sldNum"/>
          </p:nvPr>
        </p:nvSpPr>
        <p:spPr>
          <a:ln/>
        </p:spPr>
        <p:txBody>
          <a:bodyPr/>
          <a:lstStyle/>
          <a:p>
            <a:fld id="{5CBF315C-1B69-46CF-B530-1A9830B98D26}" type="slidenum">
              <a:rPr lang="en-US">
                <a:solidFill>
                  <a:prstClr val="black"/>
                </a:solidFill>
              </a:rPr>
              <a:pPr/>
              <a:t>1</a:t>
            </a:fld>
            <a:endParaRPr lang="en-US" dirty="0">
              <a:solidFill>
                <a:prstClr val="black"/>
              </a:solidFill>
            </a:endParaRPr>
          </a:p>
        </p:txBody>
      </p:sp>
      <p:sp>
        <p:nvSpPr>
          <p:cNvPr id="26625" name="Text Box 1"/>
          <p:cNvSpPr txBox="1">
            <a:spLocks noChangeArrowheads="1"/>
          </p:cNvSpPr>
          <p:nvPr/>
        </p:nvSpPr>
        <p:spPr bwMode="auto">
          <a:xfrm>
            <a:off x="5290261" y="6623469"/>
            <a:ext cx="4045489" cy="342232"/>
          </a:xfrm>
          <a:prstGeom prst="rect">
            <a:avLst/>
          </a:prstGeom>
          <a:noFill/>
          <a:ln w="9525">
            <a:noFill/>
            <a:round/>
            <a:headEnd/>
            <a:tailEnd/>
          </a:ln>
          <a:effectLst/>
        </p:spPr>
        <p:txBody>
          <a:bodyPr lIns="0" tIns="0" rIns="0" bIns="0" anchor="b"/>
          <a:lstStyle/>
          <a:p>
            <a:pPr algn="r">
              <a:tabLst>
                <a:tab pos="0" algn="l"/>
                <a:tab pos="395445" algn="l"/>
                <a:tab pos="790891" algn="l"/>
                <a:tab pos="1186335" algn="l"/>
                <a:tab pos="1581780" algn="l"/>
                <a:tab pos="1977225" algn="l"/>
                <a:tab pos="2372671" algn="l"/>
                <a:tab pos="2768115" algn="l"/>
                <a:tab pos="3163560" algn="l"/>
                <a:tab pos="3559006" algn="l"/>
                <a:tab pos="3954451" algn="l"/>
                <a:tab pos="4349897" algn="l"/>
                <a:tab pos="4745340" algn="l"/>
                <a:tab pos="5140787" algn="l"/>
                <a:tab pos="5536232" algn="l"/>
                <a:tab pos="5931678" algn="l"/>
                <a:tab pos="6327122" algn="l"/>
                <a:tab pos="6722567" algn="l"/>
                <a:tab pos="7118012" algn="l"/>
                <a:tab pos="7513458" algn="l"/>
                <a:tab pos="7908904" algn="l"/>
              </a:tabLst>
            </a:pPr>
            <a:fld id="{779D38FD-D2CB-4C35-AEE3-E5AA11246B5A}" type="slidenum">
              <a:rPr lang="en-US" sz="1300">
                <a:solidFill>
                  <a:srgbClr val="000000"/>
                </a:solidFill>
                <a:latin typeface="Times New Roman" pitchFamily="16" charset="0"/>
                <a:ea typeface="DejaVu Sans" charset="0"/>
                <a:cs typeface="DejaVu Sans" charset="0"/>
              </a:rPr>
              <a:pPr algn="r">
                <a:tabLst>
                  <a:tab pos="0" algn="l"/>
                  <a:tab pos="395445" algn="l"/>
                  <a:tab pos="790891" algn="l"/>
                  <a:tab pos="1186335" algn="l"/>
                  <a:tab pos="1581780" algn="l"/>
                  <a:tab pos="1977225" algn="l"/>
                  <a:tab pos="2372671" algn="l"/>
                  <a:tab pos="2768115" algn="l"/>
                  <a:tab pos="3163560" algn="l"/>
                  <a:tab pos="3559006" algn="l"/>
                  <a:tab pos="3954451" algn="l"/>
                  <a:tab pos="4349897" algn="l"/>
                  <a:tab pos="4745340" algn="l"/>
                  <a:tab pos="5140787" algn="l"/>
                  <a:tab pos="5536232" algn="l"/>
                  <a:tab pos="5931678" algn="l"/>
                  <a:tab pos="6327122" algn="l"/>
                  <a:tab pos="6722567" algn="l"/>
                  <a:tab pos="7118012" algn="l"/>
                  <a:tab pos="7513458" algn="l"/>
                  <a:tab pos="7908904" algn="l"/>
                </a:tabLst>
              </a:pPr>
              <a:t>1</a:t>
            </a:fld>
            <a:endParaRPr lang="en-US" sz="1300" dirty="0">
              <a:solidFill>
                <a:srgbClr val="000000"/>
              </a:solidFill>
              <a:latin typeface="Times New Roman" pitchFamily="16" charset="0"/>
              <a:ea typeface="DejaVu Sans" charset="0"/>
              <a:cs typeface="DejaVu Sans" charset="0"/>
            </a:endParaRPr>
          </a:p>
        </p:txBody>
      </p:sp>
      <p:sp>
        <p:nvSpPr>
          <p:cNvPr id="26626" name="Rectangle 2"/>
          <p:cNvSpPr txBox="1">
            <a:spLocks noGrp="1" noRot="1" noChangeAspect="1" noChangeArrowheads="1"/>
          </p:cNvSpPr>
          <p:nvPr>
            <p:ph type="sldImg"/>
          </p:nvPr>
        </p:nvSpPr>
        <p:spPr bwMode="auto">
          <a:xfrm>
            <a:off x="2930525" y="527050"/>
            <a:ext cx="3487738" cy="2616200"/>
          </a:xfrm>
          <a:prstGeom prst="rect">
            <a:avLst/>
          </a:prstGeom>
          <a:solidFill>
            <a:srgbClr val="FFFFFF"/>
          </a:solidFill>
          <a:ln>
            <a:solidFill>
              <a:srgbClr val="000000"/>
            </a:solidFill>
            <a:miter lim="800000"/>
            <a:headEnd/>
            <a:tailEnd/>
          </a:ln>
        </p:spPr>
      </p:sp>
      <p:sp>
        <p:nvSpPr>
          <p:cNvPr id="26627" name="Rectangle 3"/>
          <p:cNvSpPr txBox="1">
            <a:spLocks noGrp="1" noChangeArrowheads="1"/>
          </p:cNvSpPr>
          <p:nvPr>
            <p:ph type="body" idx="1"/>
          </p:nvPr>
        </p:nvSpPr>
        <p:spPr bwMode="auto">
          <a:xfrm>
            <a:off x="935489" y="3311187"/>
            <a:ext cx="7478143" cy="3137314"/>
          </a:xfrm>
          <a:prstGeom prst="rect">
            <a:avLst/>
          </a:prstGeom>
          <a:noFill/>
          <a:ln>
            <a:round/>
            <a:headEnd/>
            <a:tailEnd/>
          </a:ln>
        </p:spPr>
        <p:txBody>
          <a:bodyPr wrap="none" anchor="ctr"/>
          <a:lstStyle/>
          <a:p>
            <a:r>
              <a:rPr lang="el-GR" dirty="0"/>
              <a:t>Γεια</a:t>
            </a:r>
            <a:r>
              <a:rPr lang="el-GR" baseline="0" dirty="0"/>
              <a:t> σας</a:t>
            </a:r>
            <a:r>
              <a:rPr lang="el-GR" dirty="0"/>
              <a:t>,</a:t>
            </a:r>
          </a:p>
          <a:p>
            <a:r>
              <a:rPr lang="el-GR" dirty="0"/>
              <a:t>Ονομάζομαι</a:t>
            </a:r>
            <a:r>
              <a:rPr lang="el-GR" baseline="0" dirty="0"/>
              <a:t> Ευριπίδης </a:t>
            </a:r>
            <a:r>
              <a:rPr lang="el-GR" baseline="0" dirty="0" err="1"/>
              <a:t>Τζαμούσης</a:t>
            </a:r>
            <a:r>
              <a:rPr lang="el-GR" baseline="0" dirty="0"/>
              <a:t> και σήμερα θα σας παρουσιάσω την μεταπτυχιακή μου εργασία με τίτλο </a:t>
            </a:r>
          </a:p>
          <a:p>
            <a:r>
              <a:rPr lang="el-GR" baseline="0" dirty="0"/>
              <a:t>«Υβριδικά και αρθρωτά συστήματα συστάσεων για υπηρεσίες βίντεο συνεχούς ροής»</a:t>
            </a:r>
          </a:p>
          <a:p>
            <a:pPr defTabSz="881390"/>
            <a:r>
              <a:rPr lang="en-US" b="1" dirty="0">
                <a:solidFill>
                  <a:srgbClr val="002060"/>
                </a:solidFill>
                <a:ea typeface="Times New Roman" pitchFamily="18" charset="0"/>
                <a:cs typeface="Times New Roman" pitchFamily="18" charset="0"/>
              </a:rPr>
              <a:t>“On</a:t>
            </a:r>
            <a:r>
              <a:rPr lang="en-US" b="1" baseline="0" dirty="0">
                <a:solidFill>
                  <a:srgbClr val="002060"/>
                </a:solidFill>
                <a:ea typeface="Times New Roman" pitchFamily="18" charset="0"/>
                <a:cs typeface="Times New Roman" pitchFamily="18" charset="0"/>
              </a:rPr>
              <a:t> Hybrid Modular Recommendation Systems for Video-Streaming”</a:t>
            </a:r>
            <a:endParaRPr lang="en-GB" b="1" dirty="0">
              <a:solidFill>
                <a:srgbClr val="002060"/>
              </a:solidFill>
              <a:ea typeface="Times New Roman" pitchFamily="18" charset="0"/>
              <a:cs typeface="Times New Roman" pitchFamily="18" charset="0"/>
            </a:endParaRPr>
          </a:p>
          <a:p>
            <a:endParaRPr lang="el-GR" baseline="0" dirty="0"/>
          </a:p>
          <a:p>
            <a:r>
              <a:rPr lang="el-GR" dirty="0"/>
              <a:t>Αυτή η εργασία εκπονήθηκε υπό την επίβλεψη της κυρίας Μαρίας Παπαδοπούλη και</a:t>
            </a:r>
            <a:r>
              <a:rPr lang="el-GR" baseline="0" dirty="0"/>
              <a:t> υποστηρίχθηκε από τον ελληνικό τηλεπικοινωνιακό </a:t>
            </a:r>
            <a:r>
              <a:rPr lang="el-GR" baseline="0" dirty="0" err="1"/>
              <a:t>πάροχο</a:t>
            </a:r>
            <a:r>
              <a:rPr lang="el-GR" baseline="0" dirty="0"/>
              <a:t> </a:t>
            </a:r>
            <a:r>
              <a:rPr lang="en-US" baseline="0" dirty="0"/>
              <a:t>“Forthnet”</a:t>
            </a:r>
            <a:r>
              <a:rPr lang="el-GR" dirty="0"/>
              <a:t>.</a:t>
            </a:r>
          </a:p>
        </p:txBody>
      </p:sp>
      <p:sp>
        <p:nvSpPr>
          <p:cNvPr id="2" name="Footer Placeholder 1"/>
          <p:cNvSpPr>
            <a:spLocks noGrp="1"/>
          </p:cNvSpPr>
          <p:nvPr>
            <p:ph type="ftr" sz="quarter" idx="10"/>
          </p:nvPr>
        </p:nvSpPr>
        <p:spPr/>
        <p:txBody>
          <a:bodyPr/>
          <a:lstStyle/>
          <a:p>
            <a:endParaRPr lang="el-GR"/>
          </a:p>
        </p:txBody>
      </p:sp>
    </p:spTree>
    <p:extLst>
      <p:ext uri="{BB962C8B-B14F-4D97-AF65-F5344CB8AC3E}">
        <p14:creationId xmlns:p14="http://schemas.microsoft.com/office/powerpoint/2010/main" val="906911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Μεγάλες διεθνείς</a:t>
            </a:r>
            <a:r>
              <a:rPr lang="el-GR" baseline="0" dirty="0"/>
              <a:t> εταιρείες επικεντρώνονται στην έρευνα και ανάπτυξη  τέτοιων συστημάτων συστάσεων, και η θετική επίδραση που έχουν είναι σημαντική. </a:t>
            </a:r>
            <a:br>
              <a:rPr lang="el-GR" baseline="0" dirty="0"/>
            </a:br>
            <a:r>
              <a:rPr lang="el-GR" baseline="0" dirty="0"/>
              <a:t>Συγκεκριμένα η </a:t>
            </a:r>
            <a:r>
              <a:rPr lang="en-US" baseline="0" dirty="0"/>
              <a:t>Netflix </a:t>
            </a:r>
            <a:r>
              <a:rPr lang="el-GR" baseline="0" dirty="0"/>
              <a:t>αναφέρει ότι 2 από τις 3 ώρες περιεχομένου που παρακολουθούνται, έχουν προέλθει από προτάσεις, ενώ μέσω των προτάσεων η </a:t>
            </a:r>
            <a:r>
              <a:rPr lang="en-US" baseline="0" dirty="0"/>
              <a:t>YouTube </a:t>
            </a:r>
            <a:r>
              <a:rPr lang="el-GR" baseline="0" dirty="0"/>
              <a:t>αυξάνει τους χρόνους παρακολούθησης κατά 50% κάθε χρόνο. Από την άλλη, η </a:t>
            </a:r>
            <a:r>
              <a:rPr lang="en-US" baseline="0" dirty="0"/>
              <a:t>Amazon</a:t>
            </a:r>
            <a:r>
              <a:rPr lang="el-GR" baseline="0" dirty="0"/>
              <a:t> μια </a:t>
            </a:r>
            <a:r>
              <a:rPr lang="en-US" baseline="0" dirty="0"/>
              <a:t>e-commerce </a:t>
            </a:r>
            <a:r>
              <a:rPr lang="el-GR" baseline="0" dirty="0"/>
              <a:t>υπηρεσία, αναφέρει ότι  1 στα 3 προϊόντα που αγοράζονται,  προέρχονται από προτάσεις που έγιναν στους πελάτες.</a:t>
            </a:r>
            <a:endParaRPr lang="el-GR" dirty="0"/>
          </a:p>
        </p:txBody>
      </p:sp>
      <p:sp>
        <p:nvSpPr>
          <p:cNvPr id="4" name="Slide Number Placeholder 3"/>
          <p:cNvSpPr>
            <a:spLocks noGrp="1"/>
          </p:cNvSpPr>
          <p:nvPr>
            <p:ph type="sldNum" sz="quarter" idx="10"/>
          </p:nvPr>
        </p:nvSpPr>
        <p:spPr/>
        <p:txBody>
          <a:bodyPr/>
          <a:lstStyle/>
          <a:p>
            <a:fld id="{05544106-0BA0-40A9-93D0-71BB1B54AA01}" type="slidenum">
              <a:rPr lang="el-GR" smtClean="0"/>
              <a:pPr/>
              <a:t>2</a:t>
            </a:fld>
            <a:endParaRPr lang="el-GR"/>
          </a:p>
        </p:txBody>
      </p:sp>
      <p:sp>
        <p:nvSpPr>
          <p:cNvPr id="5" name="Footer Placeholder 4"/>
          <p:cNvSpPr>
            <a:spLocks noGrp="1"/>
          </p:cNvSpPr>
          <p:nvPr>
            <p:ph type="ftr" sz="quarter" idx="11"/>
          </p:nvPr>
        </p:nvSpPr>
        <p:spPr/>
        <p:txBody>
          <a:bodyPr/>
          <a:lstStyle/>
          <a:p>
            <a:endParaRPr lang="el-GR"/>
          </a:p>
        </p:txBody>
      </p:sp>
    </p:spTree>
    <p:extLst>
      <p:ext uri="{BB962C8B-B14F-4D97-AF65-F5344CB8AC3E}">
        <p14:creationId xmlns:p14="http://schemas.microsoft.com/office/powerpoint/2010/main" val="4151701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Τα</a:t>
            </a:r>
            <a:r>
              <a:rPr lang="el-GR" baseline="0" dirty="0"/>
              <a:t> συστήματα συστάσεων προσπαθούν να συμπεράνουν τις προτιμήσεις των χρηστών, και για τον κάθε χρήστη να </a:t>
            </a:r>
            <a:r>
              <a:rPr lang="el-GR" baseline="0" dirty="0" err="1"/>
              <a:t>παράξουν</a:t>
            </a:r>
            <a:r>
              <a:rPr lang="el-GR" baseline="0" dirty="0"/>
              <a:t> λίστες με αντικείμενα που έχουν προβλεφθεί ότι θα </a:t>
            </a:r>
            <a:r>
              <a:rPr lang="el-GR" baseline="0" dirty="0" err="1"/>
              <a:t>προτιμούνται</a:t>
            </a:r>
            <a:r>
              <a:rPr lang="el-GR" baseline="0" dirty="0"/>
              <a:t> ιδιαίτερα. Αξιοποιώντας για παράδειγμα τις βαθμολογίες που έχουν δώσει οι χρήστες για διάφορες ταινίες, προσπαθούμε να προβλέψουμε τις βαθμολογίες που θα έδιναν σε άλλες που δε γνωρίζουμε, και να τους προτείνουμε αυτές που προβλέπουμε με υψηλό σκορ. </a:t>
            </a:r>
            <a:endParaRPr lang="el-GR" dirty="0"/>
          </a:p>
        </p:txBody>
      </p:sp>
      <p:sp>
        <p:nvSpPr>
          <p:cNvPr id="4" name="Slide Number Placeholder 3"/>
          <p:cNvSpPr>
            <a:spLocks noGrp="1"/>
          </p:cNvSpPr>
          <p:nvPr>
            <p:ph type="sldNum" sz="quarter" idx="10"/>
          </p:nvPr>
        </p:nvSpPr>
        <p:spPr/>
        <p:txBody>
          <a:bodyPr/>
          <a:lstStyle/>
          <a:p>
            <a:fld id="{05544106-0BA0-40A9-93D0-71BB1B54AA01}" type="slidenum">
              <a:rPr lang="el-GR" smtClean="0"/>
              <a:pPr/>
              <a:t>5</a:t>
            </a:fld>
            <a:endParaRPr lang="el-GR"/>
          </a:p>
        </p:txBody>
      </p:sp>
      <p:sp>
        <p:nvSpPr>
          <p:cNvPr id="5" name="Footer Placeholder 4"/>
          <p:cNvSpPr>
            <a:spLocks noGrp="1"/>
          </p:cNvSpPr>
          <p:nvPr>
            <p:ph type="ftr" sz="quarter" idx="11"/>
          </p:nvPr>
        </p:nvSpPr>
        <p:spPr/>
        <p:txBody>
          <a:bodyPr/>
          <a:lstStyle/>
          <a:p>
            <a:endParaRPr lang="el-GR"/>
          </a:p>
        </p:txBody>
      </p:sp>
    </p:spTree>
    <p:extLst>
      <p:ext uri="{BB962C8B-B14F-4D97-AF65-F5344CB8AC3E}">
        <p14:creationId xmlns:p14="http://schemas.microsoft.com/office/powerpoint/2010/main" val="2479796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Δύο</a:t>
            </a:r>
            <a:r>
              <a:rPr lang="el-GR" baseline="0" dirty="0"/>
              <a:t> είναι βασικές προσεγγίσεις αλγορίθμων συστάσεων: Οι </a:t>
            </a:r>
            <a:r>
              <a:rPr lang="en-US" baseline="0" dirty="0"/>
              <a:t>collaborative filtering </a:t>
            </a:r>
            <a:r>
              <a:rPr lang="el-GR" baseline="0" dirty="0"/>
              <a:t>που αναλύουν τα μοτίβα βαθμολόγησης όλων των χρηστών με σκοπό των εντοπισμό παρόμοιων χρηστών ή αντικειμένων.</a:t>
            </a:r>
          </a:p>
          <a:p>
            <a:r>
              <a:rPr lang="el-GR" baseline="0" dirty="0"/>
              <a:t>Από την άλλη έχουμε τους </a:t>
            </a:r>
            <a:r>
              <a:rPr lang="en-US" baseline="0" dirty="0"/>
              <a:t>content-based </a:t>
            </a:r>
            <a:r>
              <a:rPr lang="el-GR" baseline="0" dirty="0"/>
              <a:t>, οι οποίοι εξετάζουν τα χαρακτηριστικά των αντικειμένων που αρέσουν σε ένα χρήστη, και του προτείνει άλλα με παρόμοια χαρακτηριστικά. Αν και οι </a:t>
            </a:r>
            <a:r>
              <a:rPr lang="en-US" baseline="0" dirty="0"/>
              <a:t>collaborative filtering </a:t>
            </a:r>
            <a:r>
              <a:rPr lang="el-GR" baseline="0" dirty="0"/>
              <a:t>αποδίδουν καλύτερα από ότι οι </a:t>
            </a:r>
            <a:r>
              <a:rPr lang="en-US" baseline="0" dirty="0"/>
              <a:t>content-based</a:t>
            </a:r>
            <a:r>
              <a:rPr lang="el-GR" baseline="0" dirty="0"/>
              <a:t>, οι πρώτοι δεν παρέχουν και τόσο ακριβείς προβλέψεις όταν δεν υπάρχουν αρκετά </a:t>
            </a:r>
            <a:r>
              <a:rPr lang="en-US" baseline="0" dirty="0"/>
              <a:t>ratings </a:t>
            </a:r>
            <a:r>
              <a:rPr lang="el-GR" baseline="0" dirty="0"/>
              <a:t>από τους χρήστες. Σε μία τέτοια περίπτωση οι </a:t>
            </a:r>
            <a:r>
              <a:rPr lang="en-US" baseline="0" dirty="0"/>
              <a:t>content-based </a:t>
            </a:r>
            <a:r>
              <a:rPr lang="el-GR" baseline="0" dirty="0"/>
              <a:t>μπορούν να αποδώσουν καλύτερα.</a:t>
            </a:r>
          </a:p>
        </p:txBody>
      </p:sp>
      <p:sp>
        <p:nvSpPr>
          <p:cNvPr id="4" name="Slide Number Placeholder 3"/>
          <p:cNvSpPr>
            <a:spLocks noGrp="1"/>
          </p:cNvSpPr>
          <p:nvPr>
            <p:ph type="sldNum" sz="quarter" idx="10"/>
          </p:nvPr>
        </p:nvSpPr>
        <p:spPr/>
        <p:txBody>
          <a:bodyPr/>
          <a:lstStyle/>
          <a:p>
            <a:fld id="{05544106-0BA0-40A9-93D0-71BB1B54AA01}" type="slidenum">
              <a:rPr lang="el-GR" smtClean="0"/>
              <a:pPr/>
              <a:t>6</a:t>
            </a:fld>
            <a:endParaRPr lang="el-GR"/>
          </a:p>
        </p:txBody>
      </p:sp>
      <p:sp>
        <p:nvSpPr>
          <p:cNvPr id="5" name="Footer Placeholder 4"/>
          <p:cNvSpPr>
            <a:spLocks noGrp="1"/>
          </p:cNvSpPr>
          <p:nvPr>
            <p:ph type="ftr" sz="quarter" idx="11"/>
          </p:nvPr>
        </p:nvSpPr>
        <p:spPr/>
        <p:txBody>
          <a:bodyPr/>
          <a:lstStyle/>
          <a:p>
            <a:endParaRPr lang="el-GR"/>
          </a:p>
        </p:txBody>
      </p:sp>
    </p:spTree>
    <p:extLst>
      <p:ext uri="{BB962C8B-B14F-4D97-AF65-F5344CB8AC3E}">
        <p14:creationId xmlns:p14="http://schemas.microsoft.com/office/powerpoint/2010/main" val="1274823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Ένας από τους πρώτους </a:t>
            </a:r>
            <a:r>
              <a:rPr lang="en-US" dirty="0"/>
              <a:t>recommenders </a:t>
            </a:r>
            <a:r>
              <a:rPr lang="el-GR" dirty="0"/>
              <a:t>που</a:t>
            </a:r>
            <a:r>
              <a:rPr lang="el-GR" baseline="0" dirty="0"/>
              <a:t> προτάθηκαν από την κοινότητα είναι ο </a:t>
            </a:r>
            <a:r>
              <a:rPr lang="en-US" baseline="0" dirty="0"/>
              <a:t>user-based collaborative filtering</a:t>
            </a:r>
            <a:r>
              <a:rPr lang="el-GR" baseline="0" dirty="0"/>
              <a:t>. Βασίζεται στην ιδέα ότι παρόμοιοι χρήστες θα έχουν και παρόμοιες προτιμήσεις. Έτσι, υπολογίζει ομοιότητες μεταξύ χρηστών, σε σχέση με το πόσο συμφωνούν στις βαθμολογίες τους για ίδιες ταινίες. Η πρόβλεψη που θα κάνει για έναν χρήστη για μία ταινία, προκύπτει από τις βαθμολογίες που έχουν δώσει για αυτή την ταινία οι παρόμοιοι με αυτόν χρήστες.</a:t>
            </a:r>
            <a:endParaRPr lang="en-US" baseline="0" dirty="0"/>
          </a:p>
          <a:p>
            <a:endParaRPr lang="en-US" baseline="0" dirty="0"/>
          </a:p>
          <a:p>
            <a:r>
              <a:rPr lang="el-GR" baseline="0" dirty="0"/>
              <a:t>Μία παραλλαγή του </a:t>
            </a:r>
            <a:r>
              <a:rPr lang="en-US" baseline="0" dirty="0"/>
              <a:t>user-based</a:t>
            </a:r>
            <a:r>
              <a:rPr lang="el-GR" baseline="0" dirty="0"/>
              <a:t>, είναι </a:t>
            </a:r>
            <a:r>
              <a:rPr lang="en-US" baseline="0" dirty="0"/>
              <a:t>o item-based</a:t>
            </a:r>
            <a:r>
              <a:rPr lang="el-GR" baseline="0" dirty="0"/>
              <a:t>, ο οποίος υπολογίζει αντίστοιχα ομοιότητες μεταξύ ταινιών, ως προς το πως βαθμολογούνται από ίδιους χρήστες</a:t>
            </a:r>
            <a:r>
              <a:rPr lang="en-US" baseline="0" dirty="0"/>
              <a:t>. O</a:t>
            </a:r>
            <a:r>
              <a:rPr lang="el-GR" baseline="0" dirty="0"/>
              <a:t>ι προβλέψεις προκύπτουν λαμβάνοντας υπόψιν τίς βαθμολογίες που έχει δώσει ο χρήστης σε παρόμοιες ταινίες.</a:t>
            </a:r>
            <a:endParaRPr lang="el-GR" dirty="0"/>
          </a:p>
        </p:txBody>
      </p:sp>
      <p:sp>
        <p:nvSpPr>
          <p:cNvPr id="4" name="Slide Number Placeholder 3"/>
          <p:cNvSpPr>
            <a:spLocks noGrp="1"/>
          </p:cNvSpPr>
          <p:nvPr>
            <p:ph type="sldNum" sz="quarter" idx="10"/>
          </p:nvPr>
        </p:nvSpPr>
        <p:spPr/>
        <p:txBody>
          <a:bodyPr/>
          <a:lstStyle/>
          <a:p>
            <a:fld id="{05544106-0BA0-40A9-93D0-71BB1B54AA01}" type="slidenum">
              <a:rPr lang="el-GR" smtClean="0"/>
              <a:pPr/>
              <a:t>7</a:t>
            </a:fld>
            <a:endParaRPr lang="el-GR"/>
          </a:p>
        </p:txBody>
      </p:sp>
      <p:sp>
        <p:nvSpPr>
          <p:cNvPr id="5" name="Footer Placeholder 4"/>
          <p:cNvSpPr>
            <a:spLocks noGrp="1"/>
          </p:cNvSpPr>
          <p:nvPr>
            <p:ph type="ftr" sz="quarter" idx="11"/>
          </p:nvPr>
        </p:nvSpPr>
        <p:spPr/>
        <p:txBody>
          <a:bodyPr/>
          <a:lstStyle/>
          <a:p>
            <a:endParaRPr lang="el-GR"/>
          </a:p>
        </p:txBody>
      </p:sp>
    </p:spTree>
    <p:extLst>
      <p:ext uri="{BB962C8B-B14F-4D97-AF65-F5344CB8AC3E}">
        <p14:creationId xmlns:p14="http://schemas.microsoft.com/office/powerpoint/2010/main" val="1041787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Footer Placeholder 3"/>
          <p:cNvSpPr>
            <a:spLocks noGrp="1"/>
          </p:cNvSpPr>
          <p:nvPr>
            <p:ph type="ftr" sz="quarter" idx="10"/>
          </p:nvPr>
        </p:nvSpPr>
        <p:spPr>
          <a:xfrm>
            <a:off x="3028950" y="6356350"/>
            <a:ext cx="3086100" cy="365125"/>
          </a:xfrm>
          <a:prstGeom prst="rect">
            <a:avLst/>
          </a:prstGeom>
        </p:spPr>
        <p:txBody>
          <a:bodyPr/>
          <a:lstStyle/>
          <a:p>
            <a:endParaRPr lang="en-US"/>
          </a:p>
        </p:txBody>
      </p:sp>
      <p:sp>
        <p:nvSpPr>
          <p:cNvPr id="5" name="Slide Number Placeholder 4"/>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872A9-5411-EC46-91F5-8E9C449D4FCD}" type="slidenum">
              <a:rPr lang="en-US" smtClean="0"/>
              <a:pPr/>
              <a:t>‹#›</a:t>
            </a:fld>
            <a:endParaRPr lang="en-US"/>
          </a:p>
        </p:txBody>
      </p:sp>
    </p:spTree>
    <p:extLst>
      <p:ext uri="{BB962C8B-B14F-4D97-AF65-F5344CB8AC3E}">
        <p14:creationId xmlns:p14="http://schemas.microsoft.com/office/powerpoint/2010/main" val="2492019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3028950" y="6356350"/>
            <a:ext cx="3086100" cy="365125"/>
          </a:xfrm>
          <a:prstGeom prst="rect">
            <a:avLst/>
          </a:prstGeom>
        </p:spPr>
        <p:txBody>
          <a:bodyPr/>
          <a:lstStyle/>
          <a:p>
            <a:endParaRPr lang="en-US"/>
          </a:p>
        </p:txBody>
      </p:sp>
      <p:sp>
        <p:nvSpPr>
          <p:cNvPr id="4" name="Slide Number Placeholder 4"/>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872A9-5411-EC46-91F5-8E9C449D4FCD}" type="slidenum">
              <a:rPr lang="en-US" smtClean="0"/>
              <a:pPr/>
              <a:t>‹#›</a:t>
            </a:fld>
            <a:endParaRPr lang="en-US"/>
          </a:p>
        </p:txBody>
      </p:sp>
    </p:spTree>
    <p:extLst>
      <p:ext uri="{BB962C8B-B14F-4D97-AF65-F5344CB8AC3E}">
        <p14:creationId xmlns:p14="http://schemas.microsoft.com/office/powerpoint/2010/main" val="450013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l-GR">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l-GR">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EF74C4E0-06F2-449B-AC76-67ACDC6D5424}" type="slidenum">
              <a:rPr lang="el-GR">
                <a:solidFill>
                  <a:prstClr val="black"/>
                </a:solidFill>
              </a:rPr>
              <a:pPr/>
              <a:t>‹#›</a:t>
            </a:fld>
            <a:endParaRPr lang="el-GR">
              <a:solidFill>
                <a:prstClr val="black"/>
              </a:solidFill>
            </a:endParaRPr>
          </a:p>
        </p:txBody>
      </p:sp>
    </p:spTree>
    <p:extLst>
      <p:ext uri="{BB962C8B-B14F-4D97-AF65-F5344CB8AC3E}">
        <p14:creationId xmlns:p14="http://schemas.microsoft.com/office/powerpoint/2010/main" val="110578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9" name="Text Placeholder 13"/>
          <p:cNvSpPr>
            <a:spLocks noGrp="1"/>
          </p:cNvSpPr>
          <p:nvPr>
            <p:ph type="body" sz="quarter" idx="10" hasCustomPrompt="1"/>
          </p:nvPr>
        </p:nvSpPr>
        <p:spPr>
          <a:xfrm>
            <a:off x="0" y="-30480"/>
            <a:ext cx="6084168" cy="278130"/>
          </a:xfrm>
        </p:spPr>
        <p:txBody>
          <a:bodyPr>
            <a:noAutofit/>
          </a:bodyPr>
          <a:lstStyle>
            <a:lvl1pPr marL="0" indent="0">
              <a:buNone/>
              <a:defRPr sz="1400" baseline="0">
                <a:solidFill>
                  <a:schemeClr val="bg1"/>
                </a:solidFill>
              </a:defRPr>
            </a:lvl1pPr>
            <a:lvl2pPr>
              <a:defRPr sz="1400"/>
            </a:lvl2pPr>
            <a:lvl3pPr>
              <a:defRPr sz="1400"/>
            </a:lvl3pPr>
            <a:lvl4pPr>
              <a:defRPr sz="1400"/>
            </a:lvl4pPr>
            <a:lvl5pPr>
              <a:defRPr sz="1400"/>
            </a:lvl5pPr>
          </a:lstStyle>
          <a:p>
            <a:pPr lvl="0"/>
            <a:r>
              <a:rPr lang="en-US" dirty="0"/>
              <a:t>Click to add section name</a:t>
            </a:r>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4"/>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872A9-5411-EC46-91F5-8E9C449D4FCD}" type="slidenum">
              <a:rPr lang="en-US" smtClean="0"/>
              <a:pPr/>
              <a:t>‹#›</a:t>
            </a:fld>
            <a:endParaRPr lang="en-US"/>
          </a:p>
        </p:txBody>
      </p:sp>
    </p:spTree>
    <p:extLst>
      <p:ext uri="{BB962C8B-B14F-4D97-AF65-F5344CB8AC3E}">
        <p14:creationId xmlns:p14="http://schemas.microsoft.com/office/powerpoint/2010/main" val="3328903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l-G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12" name="Text Placeholder 13"/>
          <p:cNvSpPr>
            <a:spLocks noGrp="1"/>
          </p:cNvSpPr>
          <p:nvPr>
            <p:ph type="body" sz="quarter" idx="10" hasCustomPrompt="1"/>
          </p:nvPr>
        </p:nvSpPr>
        <p:spPr>
          <a:xfrm>
            <a:off x="0" y="-30480"/>
            <a:ext cx="6084168" cy="278130"/>
          </a:xfrm>
        </p:spPr>
        <p:txBody>
          <a:bodyPr>
            <a:noAutofit/>
          </a:bodyPr>
          <a:lstStyle>
            <a:lvl1pPr marL="0" indent="0">
              <a:buNone/>
              <a:defRPr sz="1400" baseline="0">
                <a:solidFill>
                  <a:schemeClr val="bg1"/>
                </a:solidFill>
              </a:defRPr>
            </a:lvl1pPr>
            <a:lvl2pPr>
              <a:defRPr sz="1400"/>
            </a:lvl2pPr>
            <a:lvl3pPr>
              <a:defRPr sz="1400"/>
            </a:lvl3pPr>
            <a:lvl4pPr>
              <a:defRPr sz="1400"/>
            </a:lvl4pPr>
            <a:lvl5pPr>
              <a:defRPr sz="1400"/>
            </a:lvl5pPr>
          </a:lstStyle>
          <a:p>
            <a:pPr lvl="0"/>
            <a:r>
              <a:rPr lang="en-US" dirty="0"/>
              <a:t>Click to add section name</a:t>
            </a:r>
          </a:p>
        </p:txBody>
      </p:sp>
      <p:sp>
        <p:nvSpPr>
          <p:cNvPr id="7" name="Footer Placeholder 6"/>
          <p:cNvSpPr>
            <a:spLocks noGrp="1"/>
          </p:cNvSpPr>
          <p:nvPr>
            <p:ph type="ftr" sz="quarter" idx="11"/>
          </p:nvPr>
        </p:nvSpPr>
        <p:spPr>
          <a:xfrm>
            <a:off x="3028950" y="6356350"/>
            <a:ext cx="3086100" cy="365125"/>
          </a:xfrm>
          <a:prstGeom prst="rect">
            <a:avLst/>
          </a:prstGeom>
        </p:spPr>
        <p:txBody>
          <a:bodyPr/>
          <a:lstStyle/>
          <a:p>
            <a:endParaRPr lang="en-US"/>
          </a:p>
        </p:txBody>
      </p:sp>
      <p:sp>
        <p:nvSpPr>
          <p:cNvPr id="9" name="Slide Number Placeholder 4"/>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872A9-5411-EC46-91F5-8E9C449D4FCD}" type="slidenum">
              <a:rPr lang="en-US" smtClean="0"/>
              <a:pPr/>
              <a:t>‹#›</a:t>
            </a:fld>
            <a:endParaRPr lang="en-US"/>
          </a:p>
        </p:txBody>
      </p:sp>
    </p:spTree>
    <p:extLst>
      <p:ext uri="{BB962C8B-B14F-4D97-AF65-F5344CB8AC3E}">
        <p14:creationId xmlns:p14="http://schemas.microsoft.com/office/powerpoint/2010/main" val="3163384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8" name="Text Placeholder 13"/>
          <p:cNvSpPr>
            <a:spLocks noGrp="1"/>
          </p:cNvSpPr>
          <p:nvPr>
            <p:ph type="body" sz="quarter" idx="10" hasCustomPrompt="1"/>
          </p:nvPr>
        </p:nvSpPr>
        <p:spPr>
          <a:xfrm>
            <a:off x="0" y="-30480"/>
            <a:ext cx="6084168" cy="278130"/>
          </a:xfrm>
        </p:spPr>
        <p:txBody>
          <a:bodyPr>
            <a:noAutofit/>
          </a:bodyPr>
          <a:lstStyle>
            <a:lvl1pPr marL="0" indent="0">
              <a:buNone/>
              <a:defRPr sz="1400" baseline="0">
                <a:solidFill>
                  <a:schemeClr val="bg1"/>
                </a:solidFill>
              </a:defRPr>
            </a:lvl1pPr>
            <a:lvl2pPr>
              <a:defRPr sz="1400"/>
            </a:lvl2pPr>
            <a:lvl3pPr>
              <a:defRPr sz="1400"/>
            </a:lvl3pPr>
            <a:lvl4pPr>
              <a:defRPr sz="1400"/>
            </a:lvl4pPr>
            <a:lvl5pPr>
              <a:defRPr sz="1400"/>
            </a:lvl5pPr>
          </a:lstStyle>
          <a:p>
            <a:pPr lvl="0"/>
            <a:r>
              <a:rPr lang="en-US" dirty="0"/>
              <a:t>Click to add section name</a:t>
            </a:r>
          </a:p>
        </p:txBody>
      </p:sp>
      <p:sp>
        <p:nvSpPr>
          <p:cNvPr id="3" name="Footer Placeholder 2"/>
          <p:cNvSpPr>
            <a:spLocks noGrp="1"/>
          </p:cNvSpPr>
          <p:nvPr>
            <p:ph type="ftr" sz="quarter" idx="11"/>
          </p:nvPr>
        </p:nvSpPr>
        <p:spPr>
          <a:xfrm>
            <a:off x="3028950" y="6356350"/>
            <a:ext cx="3086100" cy="365125"/>
          </a:xfrm>
          <a:prstGeom prst="rect">
            <a:avLst/>
          </a:prstGeom>
        </p:spPr>
        <p:txBody>
          <a:bodyPr/>
          <a:lstStyle/>
          <a:p>
            <a:endParaRPr lang="en-US"/>
          </a:p>
        </p:txBody>
      </p:sp>
      <p:sp>
        <p:nvSpPr>
          <p:cNvPr id="5" name="Slide Number Placeholder 4"/>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872A9-5411-EC46-91F5-8E9C449D4FCD}" type="slidenum">
              <a:rPr lang="en-US" smtClean="0"/>
              <a:pPr/>
              <a:t>‹#›</a:t>
            </a:fld>
            <a:endParaRPr lang="en-US"/>
          </a:p>
        </p:txBody>
      </p:sp>
    </p:spTree>
    <p:extLst>
      <p:ext uri="{BB962C8B-B14F-4D97-AF65-F5344CB8AC3E}">
        <p14:creationId xmlns:p14="http://schemas.microsoft.com/office/powerpoint/2010/main" val="514007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Text Placeholder 13"/>
          <p:cNvSpPr>
            <a:spLocks noGrp="1"/>
          </p:cNvSpPr>
          <p:nvPr>
            <p:ph type="body" sz="quarter" idx="10" hasCustomPrompt="1"/>
          </p:nvPr>
        </p:nvSpPr>
        <p:spPr>
          <a:xfrm>
            <a:off x="0" y="-30480"/>
            <a:ext cx="6084168" cy="278130"/>
          </a:xfrm>
        </p:spPr>
        <p:txBody>
          <a:bodyPr>
            <a:noAutofit/>
          </a:bodyPr>
          <a:lstStyle>
            <a:lvl1pPr marL="0" indent="0">
              <a:buNone/>
              <a:defRPr sz="1400" baseline="0">
                <a:solidFill>
                  <a:schemeClr val="bg1"/>
                </a:solidFill>
              </a:defRPr>
            </a:lvl1pPr>
            <a:lvl2pPr>
              <a:defRPr sz="1400"/>
            </a:lvl2pPr>
            <a:lvl3pPr>
              <a:defRPr sz="1400"/>
            </a:lvl3pPr>
            <a:lvl4pPr>
              <a:defRPr sz="1400"/>
            </a:lvl4pPr>
            <a:lvl5pPr>
              <a:defRPr sz="1400"/>
            </a:lvl5pPr>
          </a:lstStyle>
          <a:p>
            <a:pPr lvl="0"/>
            <a:r>
              <a:rPr lang="en-US" dirty="0"/>
              <a:t>Click to add section name</a:t>
            </a:r>
          </a:p>
        </p:txBody>
      </p:sp>
      <p:sp>
        <p:nvSpPr>
          <p:cNvPr id="2" name="Footer Placeholder 1"/>
          <p:cNvSpPr>
            <a:spLocks noGrp="1"/>
          </p:cNvSpPr>
          <p:nvPr>
            <p:ph type="ftr" sz="quarter" idx="11"/>
          </p:nvPr>
        </p:nvSpPr>
        <p:spPr>
          <a:xfrm>
            <a:off x="3028950" y="6356350"/>
            <a:ext cx="3086100" cy="365125"/>
          </a:xfrm>
          <a:prstGeom prst="rect">
            <a:avLst/>
          </a:prstGeom>
        </p:spPr>
        <p:txBody>
          <a:bodyPr/>
          <a:lstStyle/>
          <a:p>
            <a:endParaRPr lang="en-US"/>
          </a:p>
        </p:txBody>
      </p:sp>
      <p:sp>
        <p:nvSpPr>
          <p:cNvPr id="4" name="Slide Number Placeholder 4"/>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872A9-5411-EC46-91F5-8E9C449D4FCD}" type="slidenum">
              <a:rPr lang="en-US" smtClean="0"/>
              <a:pPr/>
              <a:t>‹#›</a:t>
            </a:fld>
            <a:endParaRPr lang="en-US"/>
          </a:p>
        </p:txBody>
      </p:sp>
    </p:spTree>
    <p:extLst>
      <p:ext uri="{BB962C8B-B14F-4D97-AF65-F5344CB8AC3E}">
        <p14:creationId xmlns:p14="http://schemas.microsoft.com/office/powerpoint/2010/main" val="67417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872A9-5411-EC46-91F5-8E9C449D4FCD}" type="slidenum">
              <a:rPr lang="en-US" smtClean="0"/>
              <a:pPr/>
              <a:t>‹#›</a:t>
            </a:fld>
            <a:endParaRPr lang="en-US"/>
          </a:p>
        </p:txBody>
      </p:sp>
    </p:spTree>
    <p:extLst>
      <p:ext uri="{BB962C8B-B14F-4D97-AF65-F5344CB8AC3E}">
        <p14:creationId xmlns:p14="http://schemas.microsoft.com/office/powerpoint/2010/main" val="1044554447"/>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9" r:id="rId3"/>
    <p:sldLayoutId id="2147483765" r:id="rId4"/>
    <p:sldLayoutId id="2147483766" r:id="rId5"/>
    <p:sldLayoutId id="2147483767" r:id="rId6"/>
    <p:sldLayoutId id="2147483768"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1"/>
          <p:cNvSpPr>
            <a:spLocks noChangeArrowheads="1"/>
          </p:cNvSpPr>
          <p:nvPr/>
        </p:nvSpPr>
        <p:spPr bwMode="auto">
          <a:xfrm>
            <a:off x="0" y="2875002"/>
            <a:ext cx="9144000" cy="5539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lang="en-GB" sz="3000" b="1" dirty="0">
                <a:solidFill>
                  <a:srgbClr val="002060"/>
                </a:solidFill>
                <a:ea typeface="Times New Roman" pitchFamily="18" charset="0"/>
                <a:cs typeface="Times New Roman" pitchFamily="18" charset="0"/>
              </a:rPr>
              <a:t>Recommender Systems </a:t>
            </a:r>
          </a:p>
        </p:txBody>
      </p:sp>
      <p:sp>
        <p:nvSpPr>
          <p:cNvPr id="7" name="Slide Number Placeholder 6"/>
          <p:cNvSpPr>
            <a:spLocks noGrp="1"/>
          </p:cNvSpPr>
          <p:nvPr>
            <p:ph type="sldNum" sz="quarter" idx="4"/>
          </p:nvPr>
        </p:nvSpPr>
        <p:spPr/>
        <p:txBody>
          <a:bodyPr/>
          <a:lstStyle/>
          <a:p>
            <a:fld id="{BA8872A9-5411-EC46-91F5-8E9C449D4FCD}" type="slidenum">
              <a:rPr lang="en-US" smtClean="0"/>
              <a:pPr/>
              <a:t>1</a:t>
            </a:fld>
            <a:endParaRPr lang="en-US"/>
          </a:p>
        </p:txBody>
      </p:sp>
    </p:spTree>
    <p:extLst>
      <p:ext uri="{BB962C8B-B14F-4D97-AF65-F5344CB8AC3E}">
        <p14:creationId xmlns:p14="http://schemas.microsoft.com/office/powerpoint/2010/main" val="80917487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527" y="1606469"/>
            <a:ext cx="9127887" cy="2354491"/>
          </a:xfrm>
          <a:prstGeom prst="rect">
            <a:avLst/>
          </a:prstGeom>
          <a:noFill/>
        </p:spPr>
        <p:txBody>
          <a:bodyPr wrap="square">
            <a:spAutoFit/>
          </a:bodyPr>
          <a:lstStyle/>
          <a:p>
            <a:pPr marL="0" marR="0" lvl="0" indent="0" defTabSz="914400" eaLnBrk="1" fontAlgn="auto" latinLnBrk="0" hangingPunct="1">
              <a:lnSpc>
                <a:spcPct val="100000"/>
              </a:lnSpc>
              <a:spcBef>
                <a:spcPts val="800"/>
              </a:spcBef>
              <a:spcAft>
                <a:spcPts val="0"/>
              </a:spcAft>
              <a:buClrTx/>
              <a:buSzTx/>
              <a:buFontTx/>
              <a:buNone/>
              <a:tabLst/>
              <a:defRPr/>
            </a:pPr>
            <a:r>
              <a:rPr lang="en-US" sz="2400" b="1" kern="0" spc="-30" dirty="0">
                <a:solidFill>
                  <a:prstClr val="black"/>
                </a:solidFill>
              </a:rPr>
              <a:t>Significant industrial &amp; research interest</a:t>
            </a:r>
            <a:r>
              <a:rPr lang="en-US" sz="2400" kern="0" spc="-30" dirty="0">
                <a:solidFill>
                  <a:prstClr val="black"/>
                </a:solidFill>
              </a:rPr>
              <a:t> in recommendation systems:</a:t>
            </a:r>
          </a:p>
          <a:p>
            <a:pPr marL="0" marR="0" lvl="0" indent="0" defTabSz="914400" eaLnBrk="1" fontAlgn="auto" latinLnBrk="0" hangingPunct="1">
              <a:lnSpc>
                <a:spcPct val="100000"/>
              </a:lnSpc>
              <a:spcBef>
                <a:spcPts val="2000"/>
              </a:spcBef>
              <a:spcAft>
                <a:spcPts val="0"/>
              </a:spcAft>
              <a:buClrTx/>
              <a:buSzTx/>
              <a:buFontTx/>
              <a:buNone/>
              <a:tabLst/>
              <a:defRPr/>
            </a:pPr>
            <a:r>
              <a:rPr lang="en-US" sz="2400" kern="0" dirty="0">
                <a:solidFill>
                  <a:prstClr val="black"/>
                </a:solidFill>
              </a:rPr>
              <a:t>	          2 out of 3 watched hours come from recommendations</a:t>
            </a:r>
          </a:p>
          <a:p>
            <a:pPr marL="0" marR="0" lvl="0" indent="0" defTabSz="914400" eaLnBrk="1" fontAlgn="auto" latinLnBrk="0" hangingPunct="1">
              <a:lnSpc>
                <a:spcPct val="100000"/>
              </a:lnSpc>
              <a:spcBef>
                <a:spcPts val="2000"/>
              </a:spcBef>
              <a:spcAft>
                <a:spcPts val="0"/>
              </a:spcAft>
              <a:buClrTx/>
              <a:buSzTx/>
              <a:buFontTx/>
              <a:buNone/>
              <a:tabLst/>
              <a:defRPr/>
            </a:pPr>
            <a:r>
              <a:rPr lang="en-US" sz="2400" kern="0" dirty="0">
                <a:solidFill>
                  <a:prstClr val="black"/>
                </a:solidFill>
              </a:rPr>
              <a:t>                       increases its watch times by 50% per year</a:t>
            </a:r>
          </a:p>
          <a:p>
            <a:pPr marL="0" marR="0" lvl="0" indent="0" defTabSz="914400" eaLnBrk="1" fontAlgn="auto" latinLnBrk="0" hangingPunct="1">
              <a:lnSpc>
                <a:spcPct val="100000"/>
              </a:lnSpc>
              <a:spcBef>
                <a:spcPts val="2000"/>
              </a:spcBef>
              <a:spcAft>
                <a:spcPts val="0"/>
              </a:spcAft>
              <a:buClrTx/>
              <a:buSzTx/>
              <a:buFontTx/>
              <a:buNone/>
              <a:tabLst/>
              <a:defRPr/>
            </a:pPr>
            <a:r>
              <a:rPr lang="en-US" sz="2400" kern="0" dirty="0">
                <a:solidFill>
                  <a:prstClr val="black"/>
                </a:solidFill>
              </a:rPr>
              <a:t>                       35% of all sales are generated by recommendations </a:t>
            </a:r>
            <a:endParaRPr kumimoji="0" lang="en-US" sz="2400" b="0" i="0" u="none" strike="noStrike" kern="0" cap="none" spc="0" normalizeH="0" baseline="0" noProof="0" dirty="0">
              <a:ln>
                <a:noFill/>
              </a:ln>
              <a:solidFill>
                <a:prstClr val="black"/>
              </a:solidFill>
              <a:effectLst/>
              <a:uLnTx/>
              <a:uFillTx/>
            </a:endParaRPr>
          </a:p>
        </p:txBody>
      </p:sp>
      <p:pic>
        <p:nvPicPr>
          <p:cNvPr id="3" name="Picture 14"/>
          <p:cNvPicPr>
            <a:picLocks noChangeAspect="1"/>
          </p:cNvPicPr>
          <p:nvPr/>
        </p:nvPicPr>
        <p:blipFill>
          <a:blip r:embed="rId3" cstate="print"/>
          <a:stretch>
            <a:fillRect/>
          </a:stretch>
        </p:blipFill>
        <p:spPr>
          <a:xfrm>
            <a:off x="335272" y="2364264"/>
            <a:ext cx="1268805" cy="386899"/>
          </a:xfrm>
          <a:prstGeom prst="rect">
            <a:avLst/>
          </a:prstGeom>
        </p:spPr>
      </p:pic>
      <p:pic>
        <p:nvPicPr>
          <p:cNvPr id="4" name="Picture 2" descr="http://1.bp.blogspot.com/-BpYbqwp4H10/WabUJa_rWmI/AAAAAAAATeM/2kQyFI6wecw38-m8kfopjne45RZ37n19wCK4BGAYYCw/s1600/youtubelogo.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3969" t="30326" r="23698" b="30142"/>
          <a:stretch/>
        </p:blipFill>
        <p:spPr bwMode="auto">
          <a:xfrm>
            <a:off x="210697" y="2973345"/>
            <a:ext cx="1428529" cy="3595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5"/>
          <p:cNvPicPr>
            <a:picLocks noChangeAspect="1"/>
          </p:cNvPicPr>
          <p:nvPr/>
        </p:nvPicPr>
        <p:blipFill>
          <a:blip r:embed="rId5" cstate="print"/>
          <a:stretch>
            <a:fillRect/>
          </a:stretch>
        </p:blipFill>
        <p:spPr>
          <a:xfrm>
            <a:off x="340732" y="3643124"/>
            <a:ext cx="1266078" cy="403129"/>
          </a:xfrm>
          <a:prstGeom prst="rect">
            <a:avLst/>
          </a:prstGeom>
        </p:spPr>
      </p:pic>
      <p:sp>
        <p:nvSpPr>
          <p:cNvPr id="8" name="Slide Number Placeholder 7"/>
          <p:cNvSpPr>
            <a:spLocks noGrp="1"/>
          </p:cNvSpPr>
          <p:nvPr>
            <p:ph type="sldNum" sz="quarter" idx="4"/>
          </p:nvPr>
        </p:nvSpPr>
        <p:spPr/>
        <p:txBody>
          <a:bodyPr/>
          <a:lstStyle/>
          <a:p>
            <a:fld id="{BA8872A9-5411-EC46-91F5-8E9C449D4FCD}" type="slidenum">
              <a:rPr lang="en-US" smtClean="0"/>
              <a:pPr/>
              <a:t>2</a:t>
            </a:fld>
            <a:endParaRPr lang="en-US"/>
          </a:p>
        </p:txBody>
      </p:sp>
    </p:spTree>
    <p:extLst>
      <p:ext uri="{BB962C8B-B14F-4D97-AF65-F5344CB8AC3E}">
        <p14:creationId xmlns:p14="http://schemas.microsoft.com/office/powerpoint/2010/main" val="48722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63894" y="674117"/>
            <a:ext cx="4897419" cy="584775"/>
          </a:xfrm>
          <a:prstGeom prst="rect">
            <a:avLst/>
          </a:prstGeom>
          <a:noFill/>
        </p:spPr>
        <p:txBody>
          <a:bodyPr wrap="square" rtlCol="0">
            <a:spAutoFit/>
          </a:bodyPr>
          <a:lstStyle/>
          <a:p>
            <a:r>
              <a:rPr lang="en-US" sz="3200" b="1" dirty="0">
                <a:solidFill>
                  <a:prstClr val="black"/>
                </a:solidFill>
                <a:latin typeface="Verdana" panose="020B0604030504040204" pitchFamily="34" charset="0"/>
                <a:ea typeface="Verdana" panose="020B0604030504040204" pitchFamily="34" charset="0"/>
                <a:cs typeface="Verdana" panose="020B0604030504040204" pitchFamily="34" charset="0"/>
              </a:rPr>
              <a:t>User feedback</a:t>
            </a:r>
            <a:endParaRPr lang="el-GR" sz="3200" b="1"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6" name="TextBox 5"/>
          <p:cNvSpPr txBox="1"/>
          <p:nvPr/>
        </p:nvSpPr>
        <p:spPr>
          <a:xfrm>
            <a:off x="77118" y="1732900"/>
            <a:ext cx="9066882" cy="3954929"/>
          </a:xfrm>
          <a:prstGeom prst="rect">
            <a:avLst/>
          </a:prstGeom>
          <a:noFill/>
        </p:spPr>
        <p:txBody>
          <a:bodyPr wrap="square" rtlCol="0">
            <a:spAutoFit/>
          </a:bodyPr>
          <a:lstStyle/>
          <a:p>
            <a:pPr>
              <a:spcAft>
                <a:spcPts val="600"/>
              </a:spcAft>
            </a:pPr>
            <a:r>
              <a:rPr lang="en-US" sz="2400" dirty="0">
                <a:solidFill>
                  <a:srgbClr val="0070C0"/>
                </a:solidFill>
                <a:ea typeface="Verdana" panose="020B0604030504040204" pitchFamily="34" charset="0"/>
                <a:cs typeface="Verdana" panose="020B0604030504040204" pitchFamily="34" charset="0"/>
              </a:rPr>
              <a:t>Explicit feedback</a:t>
            </a:r>
            <a:r>
              <a:rPr lang="en-US" sz="2400" dirty="0">
                <a:ea typeface="Verdana" panose="020B0604030504040204" pitchFamily="34" charset="0"/>
                <a:cs typeface="Verdana" panose="020B0604030504040204" pitchFamily="34" charset="0"/>
              </a:rPr>
              <a:t>: Users indicate their preference for items</a:t>
            </a:r>
          </a:p>
          <a:p>
            <a:pPr marL="342900" indent="-342900">
              <a:spcAft>
                <a:spcPts val="600"/>
              </a:spcAft>
              <a:buFont typeface="Arial" panose="020B0604020202020204" pitchFamily="34" charset="0"/>
              <a:buChar char="•"/>
            </a:pPr>
            <a:r>
              <a:rPr lang="en-US" sz="2000" dirty="0">
                <a:ea typeface="Verdana" panose="020B0604030504040204" pitchFamily="34" charset="0"/>
                <a:cs typeface="Verdana" panose="020B0604030504040204" pitchFamily="34" charset="0"/>
              </a:rPr>
              <a:t>Ratings scales (1-5 stars, 1-10 stars)</a:t>
            </a:r>
          </a:p>
          <a:p>
            <a:pPr marL="342900" indent="-342900">
              <a:spcAft>
                <a:spcPts val="600"/>
              </a:spcAft>
              <a:buFont typeface="Arial" panose="020B0604020202020204" pitchFamily="34" charset="0"/>
              <a:buChar char="•"/>
            </a:pPr>
            <a:r>
              <a:rPr lang="en-US" sz="2000" dirty="0">
                <a:ea typeface="Verdana" panose="020B0604030504040204" pitchFamily="34" charset="0"/>
                <a:cs typeface="Verdana" panose="020B0604030504040204" pitchFamily="34" charset="0"/>
              </a:rPr>
              <a:t>Binary values (liked/disliked)</a:t>
            </a:r>
          </a:p>
          <a:p>
            <a:pPr marL="342900" indent="-342900">
              <a:spcAft>
                <a:spcPts val="600"/>
              </a:spcAft>
              <a:buFont typeface="Arial" panose="020B0604020202020204" pitchFamily="34" charset="0"/>
              <a:buChar char="•"/>
            </a:pPr>
            <a:endParaRPr lang="en-US" sz="2000" dirty="0">
              <a:ea typeface="Verdana" panose="020B0604030504040204" pitchFamily="34" charset="0"/>
              <a:cs typeface="Verdana" panose="020B0604030504040204" pitchFamily="34" charset="0"/>
            </a:endParaRPr>
          </a:p>
          <a:p>
            <a:endParaRPr lang="en-US" sz="2400" dirty="0">
              <a:ea typeface="Verdana" panose="020B0604030504040204" pitchFamily="34" charset="0"/>
              <a:cs typeface="Verdana" panose="020B0604030504040204" pitchFamily="34" charset="0"/>
            </a:endParaRPr>
          </a:p>
          <a:p>
            <a:endParaRPr lang="en-US" sz="2400" dirty="0">
              <a:ea typeface="Verdana" panose="020B0604030504040204" pitchFamily="34" charset="0"/>
              <a:cs typeface="Verdana" panose="020B0604030504040204" pitchFamily="34" charset="0"/>
            </a:endParaRPr>
          </a:p>
          <a:p>
            <a:pPr>
              <a:spcAft>
                <a:spcPts val="600"/>
              </a:spcAft>
            </a:pPr>
            <a:r>
              <a:rPr lang="en-US" sz="2400" dirty="0">
                <a:solidFill>
                  <a:srgbClr val="0070C0"/>
                </a:solidFill>
                <a:ea typeface="Verdana" panose="020B0604030504040204" pitchFamily="34" charset="0"/>
                <a:cs typeface="Verdana" panose="020B0604030504040204" pitchFamily="34" charset="0"/>
              </a:rPr>
              <a:t>Implicit feedback</a:t>
            </a:r>
            <a:r>
              <a:rPr lang="en-US" sz="2400" dirty="0">
                <a:ea typeface="Verdana" panose="020B0604030504040204" pitchFamily="34" charset="0"/>
                <a:cs typeface="Verdana" panose="020B0604030504040204" pitchFamily="34" charset="0"/>
              </a:rPr>
              <a:t>: Users interact with items</a:t>
            </a:r>
            <a:endParaRPr lang="en-US" sz="2800" dirty="0">
              <a:ea typeface="Verdana" panose="020B0604030504040204" pitchFamily="34" charset="0"/>
              <a:cs typeface="Verdana" panose="020B0604030504040204" pitchFamily="34" charset="0"/>
            </a:endParaRPr>
          </a:p>
          <a:p>
            <a:pPr marL="342900" indent="-342900">
              <a:spcAft>
                <a:spcPts val="600"/>
              </a:spcAft>
              <a:buSzPct val="90000"/>
              <a:buFont typeface="Arial" panose="020B0604020202020204" pitchFamily="34" charset="0"/>
              <a:buChar char="•"/>
            </a:pPr>
            <a:r>
              <a:rPr lang="en-US" sz="2000" dirty="0">
                <a:ea typeface="Verdana" panose="020B0604030504040204" pitchFamily="34" charset="0"/>
                <a:cs typeface="Verdana" panose="020B0604030504040204" pitchFamily="34" charset="0"/>
              </a:rPr>
              <a:t>Purchase history</a:t>
            </a:r>
          </a:p>
          <a:p>
            <a:pPr marL="342900" indent="-342900">
              <a:spcAft>
                <a:spcPts val="600"/>
              </a:spcAft>
              <a:buSzPct val="90000"/>
              <a:buFont typeface="Arial" panose="020B0604020202020204" pitchFamily="34" charset="0"/>
              <a:buChar char="•"/>
            </a:pPr>
            <a:r>
              <a:rPr lang="en-US" sz="2000" dirty="0">
                <a:ea typeface="Verdana" panose="020B0604030504040204" pitchFamily="34" charset="0"/>
                <a:cs typeface="Verdana" panose="020B0604030504040204" pitchFamily="34" charset="0"/>
              </a:rPr>
              <a:t>Viewing duration</a:t>
            </a:r>
          </a:p>
          <a:p>
            <a:pPr marL="342900" indent="-342900">
              <a:spcAft>
                <a:spcPts val="600"/>
              </a:spcAft>
              <a:buSzPct val="90000"/>
              <a:buFont typeface="Arial" panose="020B0604020202020204" pitchFamily="34" charset="0"/>
              <a:buChar char="•"/>
            </a:pPr>
            <a:r>
              <a:rPr lang="en-US" sz="2000" dirty="0">
                <a:ea typeface="Verdana" panose="020B0604030504040204" pitchFamily="34" charset="0"/>
                <a:cs typeface="Verdana" panose="020B0604030504040204" pitchFamily="34" charset="0"/>
              </a:rPr>
              <a:t>Click patterns</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51802" y="2867996"/>
            <a:ext cx="1251305" cy="3240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81573" y="3429000"/>
            <a:ext cx="1191764" cy="324000"/>
          </a:xfrm>
          <a:prstGeom prst="rect">
            <a:avLst/>
          </a:prstGeom>
        </p:spPr>
      </p:pic>
      <p:sp>
        <p:nvSpPr>
          <p:cNvPr id="10" name="Θέση αριθμού διαφάνειας 9"/>
          <p:cNvSpPr>
            <a:spLocks noGrp="1"/>
          </p:cNvSpPr>
          <p:nvPr>
            <p:ph type="sldNum" sz="quarter" idx="12"/>
          </p:nvPr>
        </p:nvSpPr>
        <p:spPr/>
        <p:txBody>
          <a:bodyPr/>
          <a:lstStyle/>
          <a:p>
            <a:fld id="{1D401819-1745-4133-A415-0B39F084B6FF}" type="slidenum">
              <a:rPr lang="el-GR" smtClean="0"/>
              <a:pPr/>
              <a:t>3</a:t>
            </a:fld>
            <a:endParaRPr lang="el-GR"/>
          </a:p>
        </p:txBody>
      </p:sp>
    </p:spTree>
    <p:extLst>
      <p:ext uri="{BB962C8B-B14F-4D97-AF65-F5344CB8AC3E}">
        <p14:creationId xmlns:p14="http://schemas.microsoft.com/office/powerpoint/2010/main" val="814895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1848693" y="1961911"/>
            <a:ext cx="4677371" cy="2564606"/>
          </a:xfrm>
          <a:prstGeom prst="rect">
            <a:avLst/>
          </a:prstGeom>
        </p:spPr>
      </p:pic>
      <p:sp>
        <p:nvSpPr>
          <p:cNvPr id="7" name="TextBox 6"/>
          <p:cNvSpPr txBox="1"/>
          <p:nvPr/>
        </p:nvSpPr>
        <p:spPr>
          <a:xfrm>
            <a:off x="1263600" y="673200"/>
            <a:ext cx="4843285" cy="584775"/>
          </a:xfrm>
          <a:prstGeom prst="rect">
            <a:avLst/>
          </a:prstGeom>
          <a:noFill/>
        </p:spPr>
        <p:txBody>
          <a:bodyPr wrap="square" rtlCol="0">
            <a:spAutoFit/>
          </a:bodyPr>
          <a:lstStyle/>
          <a:p>
            <a:r>
              <a:rPr lang="en-US" sz="3200" b="1" dirty="0">
                <a:solidFill>
                  <a:prstClr val="black"/>
                </a:solidFill>
                <a:latin typeface="Verdana" panose="020B0604030504040204" pitchFamily="34" charset="0"/>
                <a:ea typeface="Verdana" panose="020B0604030504040204" pitchFamily="34" charset="0"/>
                <a:cs typeface="Verdana" panose="020B0604030504040204" pitchFamily="34" charset="0"/>
              </a:rPr>
              <a:t>Ratings matrix</a:t>
            </a:r>
            <a:endParaRPr lang="el-GR" sz="3200" b="1"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4" name="TextBox 3"/>
          <p:cNvSpPr txBox="1"/>
          <p:nvPr/>
        </p:nvSpPr>
        <p:spPr>
          <a:xfrm rot="16200000">
            <a:off x="1278578" y="3196790"/>
            <a:ext cx="792088" cy="338554"/>
          </a:xfrm>
          <a:prstGeom prst="rect">
            <a:avLst/>
          </a:prstGeom>
          <a:noFill/>
        </p:spPr>
        <p:txBody>
          <a:bodyPr wrap="square" rtlCol="0">
            <a:spAutoFit/>
          </a:bodyPr>
          <a:lstStyle/>
          <a:p>
            <a:pPr algn="ctr"/>
            <a:r>
              <a:rPr lang="en-US" sz="1600" b="1" dirty="0"/>
              <a:t>Users</a:t>
            </a:r>
            <a:endParaRPr lang="el-GR" sz="1600" b="1" dirty="0"/>
          </a:p>
        </p:txBody>
      </p:sp>
      <p:sp>
        <p:nvSpPr>
          <p:cNvPr id="5" name="TextBox 4"/>
          <p:cNvSpPr txBox="1"/>
          <p:nvPr/>
        </p:nvSpPr>
        <p:spPr>
          <a:xfrm>
            <a:off x="2180027" y="1775445"/>
            <a:ext cx="3769081" cy="338554"/>
          </a:xfrm>
          <a:prstGeom prst="rect">
            <a:avLst/>
          </a:prstGeom>
          <a:noFill/>
        </p:spPr>
        <p:txBody>
          <a:bodyPr wrap="square" rtlCol="0">
            <a:spAutoFit/>
          </a:bodyPr>
          <a:lstStyle/>
          <a:p>
            <a:pPr algn="ctr"/>
            <a:r>
              <a:rPr lang="en-US" sz="1600" b="1" dirty="0"/>
              <a:t>Objects (e.g., movies, products)</a:t>
            </a:r>
            <a:endParaRPr lang="el-GR" sz="1600" b="1" dirty="0"/>
          </a:p>
        </p:txBody>
      </p:sp>
      <p:sp>
        <p:nvSpPr>
          <p:cNvPr id="10" name="Content Placeholder 2"/>
          <p:cNvSpPr txBox="1">
            <a:spLocks/>
          </p:cNvSpPr>
          <p:nvPr/>
        </p:nvSpPr>
        <p:spPr>
          <a:xfrm>
            <a:off x="850977" y="4899512"/>
            <a:ext cx="7814051" cy="861774"/>
          </a:xfrm>
          <a:prstGeom prst="rect">
            <a:avLst/>
          </a:prstGeom>
          <a:solidFill>
            <a:schemeClr val="accent1">
              <a:lumMod val="40000"/>
              <a:lumOff val="60000"/>
            </a:schemeClr>
          </a:solid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2000" spc="-10" dirty="0">
                <a:latin typeface="Verdana" panose="020B0604030504040204" pitchFamily="34" charset="0"/>
                <a:ea typeface="Verdana" panose="020B0604030504040204" pitchFamily="34" charset="0"/>
                <a:cs typeface="Verdana" panose="020B0604030504040204" pitchFamily="34" charset="0"/>
              </a:rPr>
              <a:t>Sparse matrix: Most values are unknown</a:t>
            </a:r>
          </a:p>
          <a:p>
            <a:pPr marL="0" indent="0">
              <a:spcBef>
                <a:spcPts val="600"/>
              </a:spcBef>
              <a:spcAft>
                <a:spcPts val="600"/>
              </a:spcAft>
              <a:buNone/>
            </a:pPr>
            <a:r>
              <a:rPr lang="en-US" sz="2000" spc="-10" dirty="0">
                <a:latin typeface="Verdana" panose="020B0604030504040204" pitchFamily="34" charset="0"/>
                <a:ea typeface="Verdana" panose="020B0604030504040204" pitchFamily="34" charset="0"/>
                <a:cs typeface="Verdana" panose="020B0604030504040204" pitchFamily="34" charset="0"/>
              </a:rPr>
              <a:t>Predicting: The task of filling the unknown values</a:t>
            </a:r>
          </a:p>
        </p:txBody>
      </p:sp>
      <p:sp>
        <p:nvSpPr>
          <p:cNvPr id="2" name="Θέση αριθμού διαφάνειας 1"/>
          <p:cNvSpPr>
            <a:spLocks noGrp="1"/>
          </p:cNvSpPr>
          <p:nvPr>
            <p:ph type="sldNum" sz="quarter" idx="12"/>
          </p:nvPr>
        </p:nvSpPr>
        <p:spPr/>
        <p:txBody>
          <a:bodyPr/>
          <a:lstStyle/>
          <a:p>
            <a:fld id="{1D401819-1745-4133-A415-0B39F084B6FF}" type="slidenum">
              <a:rPr lang="el-GR" smtClean="0"/>
              <a:pPr/>
              <a:t>4</a:t>
            </a:fld>
            <a:endParaRPr lang="el-GR"/>
          </a:p>
        </p:txBody>
      </p:sp>
    </p:spTree>
    <p:extLst>
      <p:ext uri="{BB962C8B-B14F-4D97-AF65-F5344CB8AC3E}">
        <p14:creationId xmlns:p14="http://schemas.microsoft.com/office/powerpoint/2010/main" val="640531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stretch>
            <a:fillRect/>
          </a:stretch>
        </p:blipFill>
        <p:spPr>
          <a:xfrm>
            <a:off x="1462178" y="3519914"/>
            <a:ext cx="4471988" cy="1293324"/>
          </a:xfrm>
          <a:prstGeom prst="rect">
            <a:avLst/>
          </a:prstGeom>
        </p:spPr>
      </p:pic>
      <p:sp>
        <p:nvSpPr>
          <p:cNvPr id="10" name="Right Brace 9"/>
          <p:cNvSpPr/>
          <p:nvPr/>
        </p:nvSpPr>
        <p:spPr>
          <a:xfrm rot="16200000">
            <a:off x="3873987" y="1987614"/>
            <a:ext cx="377825" cy="2567781"/>
          </a:xfrm>
          <a:prstGeom prst="rightBrace">
            <a:avLst>
              <a:gd name="adj1" fmla="val 106071"/>
              <a:gd name="adj2" fmla="val 47414"/>
            </a:avLst>
          </a:prstGeom>
          <a:ln w="952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l-GR"/>
          </a:p>
        </p:txBody>
      </p:sp>
      <p:sp>
        <p:nvSpPr>
          <p:cNvPr id="11" name="Right Brace 10"/>
          <p:cNvSpPr/>
          <p:nvPr/>
        </p:nvSpPr>
        <p:spPr>
          <a:xfrm rot="10800000">
            <a:off x="1032432" y="3863243"/>
            <a:ext cx="265944" cy="891999"/>
          </a:xfrm>
          <a:prstGeom prst="rightBrace">
            <a:avLst>
              <a:gd name="adj1" fmla="val 55650"/>
              <a:gd name="adj2" fmla="val 48898"/>
            </a:avLst>
          </a:prstGeom>
          <a:ln w="952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l-GR"/>
          </a:p>
        </p:txBody>
      </p:sp>
      <p:sp>
        <p:nvSpPr>
          <p:cNvPr id="13" name="TextBox 12"/>
          <p:cNvSpPr txBox="1"/>
          <p:nvPr/>
        </p:nvSpPr>
        <p:spPr>
          <a:xfrm>
            <a:off x="3098969" y="4872735"/>
            <a:ext cx="1927860" cy="369332"/>
          </a:xfrm>
          <a:prstGeom prst="rect">
            <a:avLst/>
          </a:prstGeom>
          <a:noFill/>
        </p:spPr>
        <p:txBody>
          <a:bodyPr wrap="square" rtlCol="0">
            <a:spAutoFit/>
          </a:bodyPr>
          <a:lstStyle/>
          <a:p>
            <a:r>
              <a:rPr lang="en-US" dirty="0">
                <a:solidFill>
                  <a:schemeClr val="accent5">
                    <a:lumMod val="50000"/>
                  </a:schemeClr>
                </a:solidFill>
              </a:rPr>
              <a:t>ratings matrix</a:t>
            </a:r>
            <a:endParaRPr lang="el-GR" dirty="0">
              <a:solidFill>
                <a:schemeClr val="accent5">
                  <a:lumMod val="50000"/>
                </a:schemeClr>
              </a:solidFill>
            </a:endParaRPr>
          </a:p>
        </p:txBody>
      </p:sp>
      <p:sp>
        <p:nvSpPr>
          <p:cNvPr id="14" name="TextBox 13"/>
          <p:cNvSpPr txBox="1"/>
          <p:nvPr/>
        </p:nvSpPr>
        <p:spPr>
          <a:xfrm>
            <a:off x="3498955" y="2713260"/>
            <a:ext cx="977821" cy="369332"/>
          </a:xfrm>
          <a:prstGeom prst="rect">
            <a:avLst/>
          </a:prstGeom>
          <a:noFill/>
        </p:spPr>
        <p:txBody>
          <a:bodyPr wrap="square" rtlCol="0">
            <a:spAutoFit/>
          </a:bodyPr>
          <a:lstStyle/>
          <a:p>
            <a:pPr algn="ctr"/>
            <a:r>
              <a:rPr lang="en-US" dirty="0">
                <a:solidFill>
                  <a:schemeClr val="accent5">
                    <a:lumMod val="50000"/>
                  </a:schemeClr>
                </a:solidFill>
              </a:rPr>
              <a:t>items</a:t>
            </a:r>
            <a:endParaRPr lang="el-GR" sz="2000" dirty="0">
              <a:solidFill>
                <a:schemeClr val="accent5">
                  <a:lumMod val="50000"/>
                </a:schemeClr>
              </a:solidFill>
            </a:endParaRPr>
          </a:p>
        </p:txBody>
      </p:sp>
      <p:sp>
        <p:nvSpPr>
          <p:cNvPr id="15" name="TextBox 14"/>
          <p:cNvSpPr txBox="1"/>
          <p:nvPr/>
        </p:nvSpPr>
        <p:spPr>
          <a:xfrm>
            <a:off x="187583" y="4124576"/>
            <a:ext cx="977821" cy="369332"/>
          </a:xfrm>
          <a:prstGeom prst="rect">
            <a:avLst/>
          </a:prstGeom>
          <a:noFill/>
        </p:spPr>
        <p:txBody>
          <a:bodyPr wrap="square" rtlCol="0">
            <a:spAutoFit/>
          </a:bodyPr>
          <a:lstStyle/>
          <a:p>
            <a:pPr algn="ctr"/>
            <a:r>
              <a:rPr lang="en-US" dirty="0">
                <a:solidFill>
                  <a:schemeClr val="accent5">
                    <a:lumMod val="50000"/>
                  </a:schemeClr>
                </a:solidFill>
              </a:rPr>
              <a:t>users</a:t>
            </a:r>
            <a:endParaRPr lang="el-GR" sz="2000" dirty="0">
              <a:solidFill>
                <a:schemeClr val="accent5">
                  <a:lumMod val="50000"/>
                </a:schemeClr>
              </a:solidFill>
            </a:endParaRPr>
          </a:p>
        </p:txBody>
      </p:sp>
      <p:cxnSp>
        <p:nvCxnSpPr>
          <p:cNvPr id="18" name="Straight Connector 17"/>
          <p:cNvCxnSpPr/>
          <p:nvPr/>
        </p:nvCxnSpPr>
        <p:spPr>
          <a:xfrm flipV="1">
            <a:off x="5554094" y="3839428"/>
            <a:ext cx="840446" cy="161633"/>
          </a:xfrm>
          <a:prstGeom prst="line">
            <a:avLst/>
          </a:prstGeom>
          <a:ln w="12700">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371462" y="3494169"/>
            <a:ext cx="2583942" cy="369332"/>
          </a:xfrm>
          <a:prstGeom prst="rect">
            <a:avLst/>
          </a:prstGeom>
          <a:noFill/>
        </p:spPr>
        <p:txBody>
          <a:bodyPr wrap="square" rtlCol="0">
            <a:spAutoFit/>
          </a:bodyPr>
          <a:lstStyle/>
          <a:p>
            <a:r>
              <a:rPr lang="en-US" dirty="0">
                <a:solidFill>
                  <a:schemeClr val="accent5">
                    <a:lumMod val="50000"/>
                  </a:schemeClr>
                </a:solidFill>
              </a:rPr>
              <a:t>rating: level of preference</a:t>
            </a:r>
            <a:endParaRPr lang="el-GR" dirty="0">
              <a:solidFill>
                <a:schemeClr val="accent5">
                  <a:lumMod val="50000"/>
                </a:schemeClr>
              </a:solidFill>
            </a:endParaRPr>
          </a:p>
        </p:txBody>
      </p:sp>
      <p:cxnSp>
        <p:nvCxnSpPr>
          <p:cNvPr id="22" name="Straight Connector 21"/>
          <p:cNvCxnSpPr/>
          <p:nvPr/>
        </p:nvCxnSpPr>
        <p:spPr>
          <a:xfrm flipV="1">
            <a:off x="5552335" y="4457204"/>
            <a:ext cx="840446" cy="161633"/>
          </a:xfrm>
          <a:prstGeom prst="line">
            <a:avLst/>
          </a:prstGeom>
          <a:ln w="12700">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371463" y="4177982"/>
            <a:ext cx="2306173" cy="369332"/>
          </a:xfrm>
          <a:prstGeom prst="rect">
            <a:avLst/>
          </a:prstGeom>
          <a:noFill/>
        </p:spPr>
        <p:txBody>
          <a:bodyPr wrap="square" rtlCol="0">
            <a:spAutoFit/>
          </a:bodyPr>
          <a:lstStyle/>
          <a:p>
            <a:r>
              <a:rPr lang="en-US" dirty="0">
                <a:solidFill>
                  <a:schemeClr val="accent5">
                    <a:lumMod val="50000"/>
                  </a:schemeClr>
                </a:solidFill>
              </a:rPr>
              <a:t>unknown preferences</a:t>
            </a:r>
            <a:endParaRPr lang="el-GR" dirty="0">
              <a:solidFill>
                <a:schemeClr val="accent5">
                  <a:lumMod val="50000"/>
                </a:schemeClr>
              </a:solidFill>
            </a:endParaRPr>
          </a:p>
        </p:txBody>
      </p:sp>
      <p:sp>
        <p:nvSpPr>
          <p:cNvPr id="24" name="Rectangle 23"/>
          <p:cNvSpPr/>
          <p:nvPr/>
        </p:nvSpPr>
        <p:spPr>
          <a:xfrm>
            <a:off x="355223" y="1313757"/>
            <a:ext cx="8486080" cy="923330"/>
          </a:xfrm>
          <a:prstGeom prst="rect">
            <a:avLst/>
          </a:prstGeom>
          <a:solidFill>
            <a:srgbClr val="F79646">
              <a:lumMod val="20000"/>
              <a:lumOff val="80000"/>
            </a:srgbClr>
          </a:solidFill>
        </p:spPr>
        <p:txBody>
          <a:bodyPr wrap="square">
            <a:spAutoFit/>
          </a:bodyPr>
          <a:lstStyle/>
          <a:p>
            <a:pPr marL="314287" lvl="0" indent="-314287" defTabSz="4022866">
              <a:spcBef>
                <a:spcPct val="20000"/>
              </a:spcBef>
              <a:defRPr/>
            </a:pPr>
            <a:r>
              <a:rPr lang="en-US" sz="2200" dirty="0">
                <a:solidFill>
                  <a:sysClr val="windowText" lastClr="000000"/>
                </a:solidFill>
              </a:rPr>
              <a:t>Infer user preferences about items</a:t>
            </a:r>
          </a:p>
          <a:p>
            <a:pPr>
              <a:spcBef>
                <a:spcPts val="1200"/>
              </a:spcBef>
            </a:pPr>
            <a:r>
              <a:rPr lang="en-US" sz="2200" kern="0" dirty="0">
                <a:solidFill>
                  <a:prstClr val="black"/>
                </a:solidFill>
              </a:rPr>
              <a:t>Produce </a:t>
            </a:r>
            <a:r>
              <a:rPr lang="en-US" sz="2200" b="1" kern="0" dirty="0">
                <a:solidFill>
                  <a:prstClr val="black"/>
                </a:solidFill>
              </a:rPr>
              <a:t>highly relevant </a:t>
            </a:r>
            <a:r>
              <a:rPr lang="en-US" sz="2200" kern="0" dirty="0">
                <a:solidFill>
                  <a:prstClr val="black"/>
                </a:solidFill>
              </a:rPr>
              <a:t>&amp;</a:t>
            </a:r>
            <a:r>
              <a:rPr lang="en-US" sz="2200" b="1" kern="0" dirty="0">
                <a:solidFill>
                  <a:prstClr val="black"/>
                </a:solidFill>
              </a:rPr>
              <a:t> personalized </a:t>
            </a:r>
            <a:r>
              <a:rPr lang="en-US" sz="2200" kern="0" dirty="0">
                <a:solidFill>
                  <a:prstClr val="black"/>
                </a:solidFill>
              </a:rPr>
              <a:t>lists of items</a:t>
            </a:r>
            <a:endParaRPr kumimoji="0" lang="en-US" sz="2200" i="0" u="none" strike="noStrike" kern="0" cap="none" spc="0" normalizeH="0" noProof="0" dirty="0">
              <a:ln>
                <a:noFill/>
              </a:ln>
              <a:solidFill>
                <a:prstClr val="black"/>
              </a:solidFill>
              <a:effectLst/>
              <a:uLnTx/>
              <a:uFillTx/>
            </a:endParaRPr>
          </a:p>
        </p:txBody>
      </p:sp>
      <p:sp>
        <p:nvSpPr>
          <p:cNvPr id="17" name="TextBox 16"/>
          <p:cNvSpPr txBox="1"/>
          <p:nvPr/>
        </p:nvSpPr>
        <p:spPr>
          <a:xfrm>
            <a:off x="804888" y="275452"/>
            <a:ext cx="7343775" cy="615553"/>
          </a:xfrm>
          <a:prstGeom prst="rect">
            <a:avLst/>
          </a:prstGeom>
          <a:noFill/>
        </p:spPr>
        <p:txBody>
          <a:bodyPr wrap="square" rtlCol="0">
            <a:spAutoFit/>
          </a:bodyPr>
          <a:lstStyle/>
          <a:p>
            <a:pPr algn="ctr"/>
            <a:r>
              <a:rPr lang="en-US" sz="3400" dirty="0"/>
              <a:t>Recommendation Systems</a:t>
            </a:r>
            <a:endParaRPr lang="el-GR" sz="3400" dirty="0"/>
          </a:p>
        </p:txBody>
      </p:sp>
      <p:sp>
        <p:nvSpPr>
          <p:cNvPr id="3" name="Slide Number Placeholder 2"/>
          <p:cNvSpPr>
            <a:spLocks noGrp="1"/>
          </p:cNvSpPr>
          <p:nvPr>
            <p:ph type="sldNum" sz="quarter" idx="4"/>
          </p:nvPr>
        </p:nvSpPr>
        <p:spPr/>
        <p:txBody>
          <a:bodyPr/>
          <a:lstStyle/>
          <a:p>
            <a:fld id="{BA8872A9-5411-EC46-91F5-8E9C449D4FCD}" type="slidenum">
              <a:rPr lang="en-US" smtClean="0"/>
              <a:pPr/>
              <a:t>5</a:t>
            </a:fld>
            <a:endParaRPr lang="en-US"/>
          </a:p>
        </p:txBody>
      </p:sp>
    </p:spTree>
    <p:extLst>
      <p:ext uri="{BB962C8B-B14F-4D97-AF65-F5344CB8AC3E}">
        <p14:creationId xmlns:p14="http://schemas.microsoft.com/office/powerpoint/2010/main" val="2644035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226218" y="1534822"/>
            <a:ext cx="8458200" cy="2441694"/>
          </a:xfrm>
          <a:prstGeom prst="rect">
            <a:avLst/>
          </a:prstGeom>
          <a:noFill/>
        </p:spPr>
        <p:txBody>
          <a:bodyPr wrap="square">
            <a:spAutoFit/>
          </a:bodyPr>
          <a:lstStyle/>
          <a:p>
            <a:pPr marL="0" marR="0" lvl="0" indent="0" defTabSz="914400" eaLnBrk="1" fontAlgn="auto" latinLnBrk="0" hangingPunct="1">
              <a:lnSpc>
                <a:spcPct val="100000"/>
              </a:lnSpc>
              <a:spcBef>
                <a:spcPts val="800"/>
              </a:spcBef>
              <a:spcAft>
                <a:spcPts val="0"/>
              </a:spcAft>
              <a:buClrTx/>
              <a:buSzTx/>
              <a:buFontTx/>
              <a:buNone/>
              <a:tabLst/>
              <a:defRPr/>
            </a:pPr>
            <a:r>
              <a:rPr lang="en-US" sz="2600" b="1" kern="0" dirty="0">
                <a:solidFill>
                  <a:prstClr val="black"/>
                </a:solidFill>
              </a:rPr>
              <a:t>Collaborative filtering (CF) </a:t>
            </a:r>
          </a:p>
          <a:p>
            <a:pPr marL="0" marR="0" lvl="0" indent="0" defTabSz="914400" eaLnBrk="1" fontAlgn="auto" latinLnBrk="0" hangingPunct="1">
              <a:lnSpc>
                <a:spcPct val="100000"/>
              </a:lnSpc>
              <a:spcBef>
                <a:spcPts val="800"/>
              </a:spcBef>
              <a:spcAft>
                <a:spcPts val="0"/>
              </a:spcAft>
              <a:buClrTx/>
              <a:buSzTx/>
              <a:buFontTx/>
              <a:buNone/>
              <a:tabLst/>
              <a:defRPr/>
            </a:pPr>
            <a:r>
              <a:rPr lang="en-US" sz="2600" kern="0" dirty="0">
                <a:solidFill>
                  <a:prstClr val="black"/>
                </a:solidFill>
              </a:rPr>
              <a:t>Inspect rating patterns to find similar users/items</a:t>
            </a:r>
          </a:p>
          <a:p>
            <a:pPr marL="0" marR="0" lvl="0" indent="0" defTabSz="914400" eaLnBrk="1" fontAlgn="auto" latinLnBrk="0" hangingPunct="1">
              <a:lnSpc>
                <a:spcPct val="100000"/>
              </a:lnSpc>
              <a:spcBef>
                <a:spcPts val="800"/>
              </a:spcBef>
              <a:spcAft>
                <a:spcPts val="0"/>
              </a:spcAft>
              <a:buClrTx/>
              <a:buSzTx/>
              <a:buFontTx/>
              <a:buNone/>
              <a:tabLst/>
              <a:defRPr/>
            </a:pPr>
            <a:endParaRPr lang="en-US" sz="2200" b="1" kern="0" dirty="0">
              <a:solidFill>
                <a:prstClr val="black"/>
              </a:solidFill>
            </a:endParaRPr>
          </a:p>
          <a:p>
            <a:pPr marL="0" marR="0" lvl="0" indent="0" defTabSz="914400" eaLnBrk="1" fontAlgn="auto" latinLnBrk="0" hangingPunct="1">
              <a:lnSpc>
                <a:spcPct val="100000"/>
              </a:lnSpc>
              <a:spcBef>
                <a:spcPts val="800"/>
              </a:spcBef>
              <a:spcAft>
                <a:spcPts val="0"/>
              </a:spcAft>
              <a:buClrTx/>
              <a:buSzTx/>
              <a:buFontTx/>
              <a:buNone/>
              <a:tabLst/>
              <a:defRPr/>
            </a:pPr>
            <a:r>
              <a:rPr lang="en-US" sz="2600" b="1" kern="0" dirty="0">
                <a:solidFill>
                  <a:prstClr val="black"/>
                </a:solidFill>
              </a:rPr>
              <a:t>Content-based (CB)</a:t>
            </a:r>
          </a:p>
          <a:p>
            <a:pPr marL="0" marR="0" lvl="0" indent="0" defTabSz="914400" eaLnBrk="1" fontAlgn="auto" latinLnBrk="0" hangingPunct="1">
              <a:lnSpc>
                <a:spcPct val="100000"/>
              </a:lnSpc>
              <a:spcBef>
                <a:spcPts val="800"/>
              </a:spcBef>
              <a:spcAft>
                <a:spcPts val="0"/>
              </a:spcAft>
              <a:buClrTx/>
              <a:buSzTx/>
              <a:buFontTx/>
              <a:buNone/>
              <a:tabLst/>
              <a:defRPr/>
            </a:pPr>
            <a:r>
              <a:rPr lang="en-US" sz="2600" kern="0" dirty="0">
                <a:solidFill>
                  <a:prstClr val="black"/>
                </a:solidFill>
              </a:rPr>
              <a:t>Analyze attributes of items for building user profiles</a:t>
            </a:r>
            <a:endParaRPr kumimoji="0" lang="en-US" sz="2600" b="0" i="0" u="none" strike="noStrike" kern="0" cap="none" spc="0" normalizeH="0" baseline="0" noProof="0" dirty="0">
              <a:ln>
                <a:noFill/>
              </a:ln>
              <a:solidFill>
                <a:prstClr val="black"/>
              </a:solidFill>
              <a:effectLst/>
              <a:uLnTx/>
              <a:uFillTx/>
            </a:endParaRPr>
          </a:p>
        </p:txBody>
      </p:sp>
      <p:sp>
        <p:nvSpPr>
          <p:cNvPr id="17" name="TextBox 16"/>
          <p:cNvSpPr txBox="1"/>
          <p:nvPr/>
        </p:nvSpPr>
        <p:spPr>
          <a:xfrm>
            <a:off x="164309" y="4402367"/>
            <a:ext cx="8917782" cy="1292662"/>
          </a:xfrm>
          <a:prstGeom prst="rect">
            <a:avLst/>
          </a:prstGeom>
          <a:noFill/>
        </p:spPr>
        <p:txBody>
          <a:bodyPr wrap="square" rtlCol="0">
            <a:spAutoFit/>
          </a:bodyPr>
          <a:lstStyle/>
          <a:p>
            <a:r>
              <a:rPr lang="en-US" sz="2600" dirty="0"/>
              <a:t>In general, CF performs </a:t>
            </a:r>
            <a:r>
              <a:rPr lang="en-US" sz="2600" b="1" dirty="0"/>
              <a:t>better</a:t>
            </a:r>
            <a:r>
              <a:rPr lang="en-US" sz="2600" dirty="0"/>
              <a:t> than CB</a:t>
            </a:r>
          </a:p>
          <a:p>
            <a:pPr marL="342900" indent="-342900">
              <a:buFont typeface="Arial" charset="0"/>
              <a:buChar char="•"/>
            </a:pPr>
            <a:r>
              <a:rPr lang="en-US" sz="2600" kern="0" dirty="0">
                <a:solidFill>
                  <a:prstClr val="black"/>
                </a:solidFill>
              </a:rPr>
              <a:t>CF </a:t>
            </a:r>
            <a:r>
              <a:rPr lang="en-US" sz="2600" kern="0" dirty="0">
                <a:solidFill>
                  <a:srgbClr val="FF0000"/>
                </a:solidFill>
              </a:rPr>
              <a:t>fail</a:t>
            </a:r>
            <a:r>
              <a:rPr lang="en-US" sz="2600" kern="0" dirty="0">
                <a:solidFill>
                  <a:prstClr val="black"/>
                </a:solidFill>
              </a:rPr>
              <a:t> to provide accurate predictions with insufficient ratings</a:t>
            </a:r>
          </a:p>
          <a:p>
            <a:pPr marL="342900" indent="-342900">
              <a:buFont typeface="Arial" charset="0"/>
              <a:buChar char="•"/>
            </a:pPr>
            <a:r>
              <a:rPr lang="en-US" sz="2600" kern="0" dirty="0">
                <a:solidFill>
                  <a:prstClr val="black"/>
                </a:solidFill>
              </a:rPr>
              <a:t>CB can </a:t>
            </a:r>
            <a:r>
              <a:rPr lang="en-US" sz="2600" kern="0" dirty="0">
                <a:solidFill>
                  <a:srgbClr val="009900"/>
                </a:solidFill>
              </a:rPr>
              <a:t>alleviate</a:t>
            </a:r>
            <a:r>
              <a:rPr lang="en-US" sz="2600" kern="0" dirty="0">
                <a:solidFill>
                  <a:srgbClr val="517D33"/>
                </a:solidFill>
              </a:rPr>
              <a:t> </a:t>
            </a:r>
            <a:r>
              <a:rPr lang="en-US" sz="2600" kern="0" dirty="0">
                <a:solidFill>
                  <a:prstClr val="black"/>
                </a:solidFill>
              </a:rPr>
              <a:t>the sparsity problem</a:t>
            </a:r>
            <a:endParaRPr lang="el-GR" sz="2600" dirty="0"/>
          </a:p>
        </p:txBody>
      </p:sp>
      <p:sp>
        <p:nvSpPr>
          <p:cNvPr id="19" name="TextBox 18"/>
          <p:cNvSpPr txBox="1"/>
          <p:nvPr/>
        </p:nvSpPr>
        <p:spPr>
          <a:xfrm>
            <a:off x="226222" y="571822"/>
            <a:ext cx="8793957" cy="646331"/>
          </a:xfrm>
          <a:prstGeom prst="rect">
            <a:avLst/>
          </a:prstGeom>
          <a:noFill/>
        </p:spPr>
        <p:txBody>
          <a:bodyPr wrap="square" rtlCol="0">
            <a:spAutoFit/>
          </a:bodyPr>
          <a:lstStyle/>
          <a:p>
            <a:r>
              <a:rPr lang="en-US" sz="3600" dirty="0"/>
              <a:t>Main Approaches</a:t>
            </a:r>
            <a:endParaRPr lang="el-GR" sz="3600" dirty="0"/>
          </a:p>
        </p:txBody>
      </p:sp>
      <p:sp>
        <p:nvSpPr>
          <p:cNvPr id="3" name="Slide Number Placeholder 2"/>
          <p:cNvSpPr>
            <a:spLocks noGrp="1"/>
          </p:cNvSpPr>
          <p:nvPr>
            <p:ph type="sldNum" sz="quarter" idx="4"/>
          </p:nvPr>
        </p:nvSpPr>
        <p:spPr/>
        <p:txBody>
          <a:bodyPr/>
          <a:lstStyle/>
          <a:p>
            <a:fld id="{BA8872A9-5411-EC46-91F5-8E9C449D4FCD}" type="slidenum">
              <a:rPr lang="en-US" smtClean="0"/>
              <a:pPr/>
              <a:t>6</a:t>
            </a:fld>
            <a:endParaRPr lang="en-US"/>
          </a:p>
        </p:txBody>
      </p:sp>
    </p:spTree>
    <p:extLst>
      <p:ext uri="{BB962C8B-B14F-4D97-AF65-F5344CB8AC3E}">
        <p14:creationId xmlns:p14="http://schemas.microsoft.com/office/powerpoint/2010/main" val="2967211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117997" y="163987"/>
            <a:ext cx="858238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latin typeface="Calibri" panose="020F0502020204030204"/>
              </a:rPr>
              <a:t>Popular Recommenders</a:t>
            </a:r>
            <a:r>
              <a:rPr lang="en-US" sz="2800" dirty="0">
                <a:latin typeface="Calibri" panose="020F0502020204030204"/>
              </a:rPr>
              <a:t>: K-</a:t>
            </a:r>
            <a:r>
              <a:rPr lang="el-GR" sz="2800" dirty="0">
                <a:latin typeface="Calibri" panose="020F0502020204030204"/>
              </a:rPr>
              <a:t>Ν</a:t>
            </a:r>
            <a:r>
              <a:rPr lang="en-US" sz="2800" dirty="0" err="1">
                <a:latin typeface="Calibri" panose="020F0502020204030204"/>
              </a:rPr>
              <a:t>earest</a:t>
            </a:r>
            <a:r>
              <a:rPr lang="en-US" sz="2800" dirty="0">
                <a:latin typeface="Calibri" panose="020F0502020204030204"/>
              </a:rPr>
              <a:t> </a:t>
            </a:r>
            <a:r>
              <a:rPr lang="el-GR" sz="2800" dirty="0">
                <a:latin typeface="Calibri" panose="020F0502020204030204"/>
              </a:rPr>
              <a:t>Ν</a:t>
            </a:r>
            <a:r>
              <a:rPr lang="en-US" sz="2800" dirty="0" err="1">
                <a:latin typeface="Calibri" panose="020F0502020204030204"/>
              </a:rPr>
              <a:t>eighbors</a:t>
            </a:r>
            <a:r>
              <a:rPr lang="el-GR" sz="2800" dirty="0">
                <a:latin typeface="Calibri" panose="020F0502020204030204"/>
              </a:rPr>
              <a:t> </a:t>
            </a:r>
            <a:r>
              <a:rPr lang="en-US" sz="2800" dirty="0">
                <a:latin typeface="Calibri" panose="020F0502020204030204"/>
              </a:rPr>
              <a:t>Approach </a:t>
            </a:r>
            <a:endParaRPr kumimoji="0" lang="el-GR" sz="2000" i="0" u="none" strike="noStrike" kern="1200" cap="none" spc="0" normalizeH="0" baseline="0" noProof="0" dirty="0">
              <a:ln>
                <a:noFill/>
              </a:ln>
              <a:effectLst/>
              <a:uLnTx/>
              <a:uFillTx/>
              <a:latin typeface="Calibri" panose="020F0502020204030204"/>
              <a:ea typeface="+mn-ea"/>
              <a:cs typeface="+mn-cs"/>
            </a:endParaRPr>
          </a:p>
        </p:txBody>
      </p:sp>
      <p:sp>
        <p:nvSpPr>
          <p:cNvPr id="18" name="TextBox 17"/>
          <p:cNvSpPr txBox="1"/>
          <p:nvPr/>
        </p:nvSpPr>
        <p:spPr>
          <a:xfrm>
            <a:off x="9728" y="1349457"/>
            <a:ext cx="8115301" cy="1708160"/>
          </a:xfrm>
          <a:prstGeom prst="rect">
            <a:avLst/>
          </a:prstGeom>
          <a:noFill/>
        </p:spPr>
        <p:txBody>
          <a:bodyPr wrap="square" rtlCol="0">
            <a:spAutoFit/>
          </a:bodyPr>
          <a:lstStyle/>
          <a:p>
            <a:pPr lvl="0"/>
            <a:r>
              <a:rPr lang="en-US" sz="2400" b="1" dirty="0"/>
              <a:t>User-based collaborative filtering (</a:t>
            </a:r>
            <a:r>
              <a:rPr lang="en-US" sz="2400" b="1" dirty="0" err="1"/>
              <a:t>UBCF</a:t>
            </a:r>
            <a:r>
              <a:rPr lang="en-US" sz="2400" b="1" dirty="0"/>
              <a:t>)</a:t>
            </a:r>
            <a:endParaRPr lang="el-GR" sz="2400" dirty="0"/>
          </a:p>
          <a:p>
            <a:pPr lvl="0">
              <a:spcBef>
                <a:spcPts val="600"/>
              </a:spcBef>
            </a:pPr>
            <a:r>
              <a:rPr lang="en-US" sz="2200" kern="0" dirty="0">
                <a:solidFill>
                  <a:prstClr val="black"/>
                </a:solidFill>
              </a:rPr>
              <a:t>Assumption: Similar users have similar preferences</a:t>
            </a:r>
            <a:endParaRPr lang="el-GR" sz="2200" kern="0" dirty="0">
              <a:solidFill>
                <a:prstClr val="black"/>
              </a:solidFill>
            </a:endParaRPr>
          </a:p>
          <a:p>
            <a:pPr marL="342900" lvl="0" indent="-342900">
              <a:spcBef>
                <a:spcPts val="600"/>
              </a:spcBef>
              <a:buFont typeface="Arial" panose="020B0604020202020204" pitchFamily="34" charset="0"/>
              <a:buChar char="•"/>
            </a:pPr>
            <a:r>
              <a:rPr lang="en-US" sz="2200" b="1" kern="0" dirty="0">
                <a:solidFill>
                  <a:schemeClr val="accent6">
                    <a:lumMod val="50000"/>
                  </a:schemeClr>
                </a:solidFill>
              </a:rPr>
              <a:t>User similarity: agreement on co-rated items</a:t>
            </a:r>
            <a:endParaRPr lang="el-GR" sz="2200" b="1" kern="0" dirty="0">
              <a:solidFill>
                <a:schemeClr val="accent6">
                  <a:lumMod val="50000"/>
                </a:schemeClr>
              </a:solidFill>
            </a:endParaRPr>
          </a:p>
          <a:p>
            <a:pPr marL="342900" lvl="0" indent="-342900">
              <a:spcBef>
                <a:spcPts val="600"/>
              </a:spcBef>
              <a:buFont typeface="Arial" panose="020B0604020202020204" pitchFamily="34" charset="0"/>
              <a:buChar char="•"/>
            </a:pPr>
            <a:r>
              <a:rPr lang="en-US" sz="2200" kern="0" dirty="0">
                <a:solidFill>
                  <a:prstClr val="black"/>
                </a:solidFill>
              </a:rPr>
              <a:t>Prediction: </a:t>
            </a:r>
            <a:r>
              <a:rPr lang="en-US" sz="2200" b="1" kern="0" dirty="0">
                <a:solidFill>
                  <a:srgbClr val="0000FF"/>
                </a:solidFill>
              </a:rPr>
              <a:t>weighted sum of similar user’s ratings</a:t>
            </a:r>
            <a:endParaRPr lang="en-US" sz="2200" b="1" dirty="0">
              <a:solidFill>
                <a:srgbClr val="0000FF"/>
              </a:solidFill>
            </a:endParaRPr>
          </a:p>
        </p:txBody>
      </p:sp>
      <p:sp>
        <p:nvSpPr>
          <p:cNvPr id="19" name="TextBox 18"/>
          <p:cNvSpPr txBox="1"/>
          <p:nvPr/>
        </p:nvSpPr>
        <p:spPr>
          <a:xfrm>
            <a:off x="9728" y="4009727"/>
            <a:ext cx="7344383" cy="1708160"/>
          </a:xfrm>
          <a:prstGeom prst="rect">
            <a:avLst/>
          </a:prstGeom>
          <a:noFill/>
        </p:spPr>
        <p:txBody>
          <a:bodyPr wrap="square" rtlCol="0">
            <a:spAutoFit/>
          </a:bodyPr>
          <a:lstStyle/>
          <a:p>
            <a:pPr lvl="0"/>
            <a:r>
              <a:rPr lang="en-US" sz="2400" b="1" dirty="0"/>
              <a:t>Item-based collaborative filtering (IBCF)</a:t>
            </a:r>
            <a:endParaRPr lang="el-GR" sz="2400" dirty="0"/>
          </a:p>
          <a:p>
            <a:pPr lvl="0">
              <a:spcBef>
                <a:spcPts val="600"/>
              </a:spcBef>
            </a:pPr>
            <a:r>
              <a:rPr lang="en-US" sz="2200" kern="0" dirty="0">
                <a:solidFill>
                  <a:prstClr val="black"/>
                </a:solidFill>
              </a:rPr>
              <a:t>Assumption: Users have </a:t>
            </a:r>
            <a:r>
              <a:rPr lang="en-US" sz="2200" kern="0" dirty="0">
                <a:solidFill>
                  <a:srgbClr val="FF0000"/>
                </a:solidFill>
              </a:rPr>
              <a:t>similar tastes for similar items</a:t>
            </a:r>
          </a:p>
          <a:p>
            <a:pPr marL="342900" lvl="0" indent="-342900">
              <a:spcBef>
                <a:spcPts val="600"/>
              </a:spcBef>
              <a:buFont typeface="Arial" panose="020B0604020202020204" pitchFamily="34" charset="0"/>
              <a:buChar char="•"/>
            </a:pPr>
            <a:r>
              <a:rPr lang="en-US" sz="2200" kern="0" dirty="0">
                <a:solidFill>
                  <a:prstClr val="black"/>
                </a:solidFill>
              </a:rPr>
              <a:t>Item similarity: agreement within users rated both items</a:t>
            </a:r>
          </a:p>
          <a:p>
            <a:pPr marL="342900" lvl="0" indent="-342900">
              <a:spcBef>
                <a:spcPts val="600"/>
              </a:spcBef>
              <a:buFont typeface="Arial" panose="020B0604020202020204" pitchFamily="34" charset="0"/>
              <a:buChar char="•"/>
            </a:pPr>
            <a:r>
              <a:rPr lang="en-US" sz="2200" kern="0" dirty="0">
                <a:solidFill>
                  <a:prstClr val="black"/>
                </a:solidFill>
              </a:rPr>
              <a:t>Prediction: weighted sum of similar items’ ratings</a:t>
            </a:r>
            <a:endParaRPr lang="en-US" sz="2200" dirty="0"/>
          </a:p>
        </p:txBody>
      </p:sp>
      <p:pic>
        <p:nvPicPr>
          <p:cNvPr id="2" name="Picture 1"/>
          <p:cNvPicPr>
            <a:picLocks noChangeAspect="1"/>
          </p:cNvPicPr>
          <p:nvPr/>
        </p:nvPicPr>
        <p:blipFill rotWithShape="1">
          <a:blip r:embed="rId3" cstate="print"/>
          <a:srcRect l="2581" r="3479"/>
          <a:stretch/>
        </p:blipFill>
        <p:spPr>
          <a:xfrm>
            <a:off x="6994190" y="3813666"/>
            <a:ext cx="2022055" cy="2520000"/>
          </a:xfrm>
          <a:prstGeom prst="rect">
            <a:avLst/>
          </a:prstGeom>
        </p:spPr>
      </p:pic>
      <p:pic>
        <p:nvPicPr>
          <p:cNvPr id="3" name="Picture 2"/>
          <p:cNvPicPr>
            <a:picLocks noChangeAspect="1"/>
          </p:cNvPicPr>
          <p:nvPr/>
        </p:nvPicPr>
        <p:blipFill>
          <a:blip r:embed="rId4" cstate="print"/>
          <a:stretch>
            <a:fillRect/>
          </a:stretch>
        </p:blipFill>
        <p:spPr>
          <a:xfrm>
            <a:off x="6759874" y="743912"/>
            <a:ext cx="2256371" cy="2520000"/>
          </a:xfrm>
          <a:prstGeom prst="rect">
            <a:avLst/>
          </a:prstGeom>
        </p:spPr>
      </p:pic>
      <p:sp>
        <p:nvSpPr>
          <p:cNvPr id="5" name="Slide Number Placeholder 4"/>
          <p:cNvSpPr>
            <a:spLocks noGrp="1"/>
          </p:cNvSpPr>
          <p:nvPr>
            <p:ph type="sldNum" sz="quarter" idx="4"/>
          </p:nvPr>
        </p:nvSpPr>
        <p:spPr/>
        <p:txBody>
          <a:bodyPr/>
          <a:lstStyle/>
          <a:p>
            <a:fld id="{BA8872A9-5411-EC46-91F5-8E9C449D4FCD}" type="slidenum">
              <a:rPr lang="en-US" smtClean="0"/>
              <a:pPr/>
              <a:t>7</a:t>
            </a:fld>
            <a:endParaRPr lang="en-US"/>
          </a:p>
        </p:txBody>
      </p:sp>
    </p:spTree>
    <p:extLst>
      <p:ext uri="{BB962C8B-B14F-4D97-AF65-F5344CB8AC3E}">
        <p14:creationId xmlns:p14="http://schemas.microsoft.com/office/powerpoint/2010/main" val="1479419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3070589" y="1550222"/>
            <a:ext cx="4786233" cy="986952"/>
          </a:xfrm>
          <a:prstGeom prst="rect">
            <a:avLst/>
          </a:prstGeom>
        </p:spPr>
      </p:pic>
      <p:pic>
        <p:nvPicPr>
          <p:cNvPr id="28" name="Picture 27"/>
          <p:cNvPicPr>
            <a:picLocks noChangeAspect="1"/>
          </p:cNvPicPr>
          <p:nvPr/>
        </p:nvPicPr>
        <p:blipFill>
          <a:blip r:embed="rId3" cstate="print"/>
          <a:stretch>
            <a:fillRect/>
          </a:stretch>
        </p:blipFill>
        <p:spPr>
          <a:xfrm>
            <a:off x="3730133" y="4603686"/>
            <a:ext cx="3028950" cy="1171575"/>
          </a:xfrm>
          <a:prstGeom prst="rect">
            <a:avLst/>
          </a:prstGeom>
        </p:spPr>
      </p:pic>
      <p:sp>
        <p:nvSpPr>
          <p:cNvPr id="4" name="Content Placeholder 2"/>
          <p:cNvSpPr>
            <a:spLocks noGrp="1"/>
          </p:cNvSpPr>
          <p:nvPr>
            <p:ph idx="1"/>
          </p:nvPr>
        </p:nvSpPr>
        <p:spPr>
          <a:xfrm>
            <a:off x="1331640" y="404664"/>
            <a:ext cx="6669360" cy="6048672"/>
          </a:xfrm>
          <a:prstGeom prst="rect">
            <a:avLst/>
          </a:prstGeom>
        </p:spPr>
        <p:txBody>
          <a:bodyPr>
            <a:normAutofit/>
          </a:bodyPr>
          <a:lstStyle/>
          <a:p>
            <a:pPr marL="0" indent="0">
              <a:spcBef>
                <a:spcPts val="1200"/>
              </a:spcBef>
              <a:buNone/>
              <a:defRPr/>
            </a:pPr>
            <a:endParaRPr lang="el-GR" sz="2800" kern="0" dirty="0">
              <a:solidFill>
                <a:srgbClr val="E7E6E6">
                  <a:lumMod val="10000"/>
                </a:srgbClr>
              </a:solidFill>
            </a:endParaRPr>
          </a:p>
          <a:p>
            <a:pPr marL="0" indent="0">
              <a:spcBef>
                <a:spcPts val="1200"/>
              </a:spcBef>
              <a:buNone/>
              <a:defRPr/>
            </a:pPr>
            <a:endParaRPr lang="en-US" sz="2800" kern="0" dirty="0">
              <a:solidFill>
                <a:srgbClr val="E7E6E6">
                  <a:lumMod val="10000"/>
                </a:srgbClr>
              </a:solidFill>
            </a:endParaRPr>
          </a:p>
          <a:p>
            <a:pPr marL="0" indent="0">
              <a:spcBef>
                <a:spcPts val="0"/>
              </a:spcBef>
              <a:buNone/>
            </a:pPr>
            <a:endParaRPr lang="en-US" sz="2400" kern="0" dirty="0"/>
          </a:p>
          <a:p>
            <a:pPr marL="0" indent="0">
              <a:spcBef>
                <a:spcPts val="0"/>
              </a:spcBef>
              <a:buNone/>
            </a:pPr>
            <a:endParaRPr lang="en-US" sz="2000" kern="0" dirty="0"/>
          </a:p>
        </p:txBody>
      </p:sp>
      <p:sp>
        <p:nvSpPr>
          <p:cNvPr id="5" name="Content Placeholder 2"/>
          <p:cNvSpPr txBox="1">
            <a:spLocks/>
          </p:cNvSpPr>
          <p:nvPr/>
        </p:nvSpPr>
        <p:spPr>
          <a:xfrm>
            <a:off x="1283677" y="242277"/>
            <a:ext cx="8856785" cy="6400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dirty="0">
              <a:solidFill>
                <a:prstClr val="black"/>
              </a:solidFill>
              <a:latin typeface="Calibri"/>
            </a:endParaRPr>
          </a:p>
        </p:txBody>
      </p:sp>
      <p:sp>
        <p:nvSpPr>
          <p:cNvPr id="7" name="Rounded Rectangle 6"/>
          <p:cNvSpPr/>
          <p:nvPr/>
        </p:nvSpPr>
        <p:spPr>
          <a:xfrm>
            <a:off x="36667" y="985197"/>
            <a:ext cx="3572929" cy="1213524"/>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a:rPr>
              <a:t>Compute similarity between items</a:t>
            </a:r>
            <a:endParaRPr lang="en-US" dirty="0">
              <a:solidFill>
                <a:prstClr val="white"/>
              </a:solidFill>
              <a:latin typeface="Calibri"/>
            </a:endParaRPr>
          </a:p>
        </p:txBody>
      </p:sp>
      <p:cxnSp>
        <p:nvCxnSpPr>
          <p:cNvPr id="8" name="Straight Arrow Connector 7"/>
          <p:cNvCxnSpPr/>
          <p:nvPr/>
        </p:nvCxnSpPr>
        <p:spPr>
          <a:xfrm>
            <a:off x="4545871" y="1262800"/>
            <a:ext cx="385898" cy="423889"/>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88135" y="4601317"/>
            <a:ext cx="2941215" cy="625652"/>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a:rPr>
              <a:t>Prediction of rating for item </a:t>
            </a:r>
            <a:r>
              <a:rPr lang="en-US" i="1" dirty="0" err="1">
                <a:solidFill>
                  <a:srgbClr val="002060"/>
                </a:solidFill>
                <a:latin typeface="Calibri"/>
              </a:rPr>
              <a:t>i</a:t>
            </a:r>
            <a:endParaRPr lang="en-US" i="1" dirty="0">
              <a:solidFill>
                <a:prstClr val="white"/>
              </a:solidFill>
              <a:latin typeface="Calibri"/>
            </a:endParaRPr>
          </a:p>
        </p:txBody>
      </p:sp>
      <p:sp>
        <p:nvSpPr>
          <p:cNvPr id="10" name="Rounded Rectangle 9"/>
          <p:cNvSpPr/>
          <p:nvPr/>
        </p:nvSpPr>
        <p:spPr>
          <a:xfrm>
            <a:off x="3324243" y="623155"/>
            <a:ext cx="1982281" cy="468779"/>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a:rPr>
              <a:t>set of users rated both items</a:t>
            </a:r>
            <a:endParaRPr lang="en-US" dirty="0">
              <a:solidFill>
                <a:prstClr val="white"/>
              </a:solidFill>
              <a:latin typeface="Calibri"/>
            </a:endParaRPr>
          </a:p>
        </p:txBody>
      </p:sp>
      <p:sp>
        <p:nvSpPr>
          <p:cNvPr id="11" name="Rounded Rectangle 10"/>
          <p:cNvSpPr/>
          <p:nvPr/>
        </p:nvSpPr>
        <p:spPr>
          <a:xfrm>
            <a:off x="3609596" y="2782022"/>
            <a:ext cx="3682891" cy="468779"/>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a:rPr>
              <a:t>deviation from the average rating</a:t>
            </a:r>
            <a:endParaRPr lang="en-US" dirty="0">
              <a:solidFill>
                <a:prstClr val="white"/>
              </a:solidFill>
              <a:latin typeface="Calibri"/>
            </a:endParaRPr>
          </a:p>
        </p:txBody>
      </p:sp>
      <p:cxnSp>
        <p:nvCxnSpPr>
          <p:cNvPr id="12" name="Straight Arrow Connector 11"/>
          <p:cNvCxnSpPr/>
          <p:nvPr/>
        </p:nvCxnSpPr>
        <p:spPr>
          <a:xfrm flipH="1">
            <a:off x="6514826" y="1091930"/>
            <a:ext cx="387400" cy="458292"/>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5150113" y="623153"/>
            <a:ext cx="1700645" cy="468779"/>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a:rPr>
              <a:t>rating on item </a:t>
            </a:r>
            <a:r>
              <a:rPr lang="en-US" i="1" dirty="0" err="1">
                <a:solidFill>
                  <a:srgbClr val="002060"/>
                </a:solidFill>
                <a:latin typeface="Calibri"/>
              </a:rPr>
              <a:t>i</a:t>
            </a:r>
            <a:endParaRPr lang="en-US" i="1" dirty="0">
              <a:solidFill>
                <a:prstClr val="white"/>
              </a:solidFill>
              <a:latin typeface="Calibri"/>
            </a:endParaRPr>
          </a:p>
        </p:txBody>
      </p:sp>
      <p:sp>
        <p:nvSpPr>
          <p:cNvPr id="14" name="Rounded Rectangle 13"/>
          <p:cNvSpPr/>
          <p:nvPr/>
        </p:nvSpPr>
        <p:spPr>
          <a:xfrm>
            <a:off x="6591172" y="632442"/>
            <a:ext cx="1941764" cy="459491"/>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a:rPr>
              <a:t>rating on item j</a:t>
            </a:r>
            <a:endParaRPr lang="en-US" i="1" dirty="0">
              <a:solidFill>
                <a:prstClr val="white"/>
              </a:solidFill>
              <a:latin typeface="Calibri"/>
            </a:endParaRPr>
          </a:p>
        </p:txBody>
      </p:sp>
      <p:cxnSp>
        <p:nvCxnSpPr>
          <p:cNvPr id="15" name="Straight Arrow Connector 14"/>
          <p:cNvCxnSpPr>
            <a:endCxn id="6" idx="0"/>
          </p:cNvCxnSpPr>
          <p:nvPr/>
        </p:nvCxnSpPr>
        <p:spPr>
          <a:xfrm flipH="1">
            <a:off x="5463705" y="1091932"/>
            <a:ext cx="248364" cy="458290"/>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Left Bracket 15"/>
          <p:cNvSpPr/>
          <p:nvPr/>
        </p:nvSpPr>
        <p:spPr>
          <a:xfrm rot="16200000">
            <a:off x="5182919" y="2176747"/>
            <a:ext cx="247208" cy="963340"/>
          </a:xfrm>
          <a:prstGeom prst="leftBracket">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l-GR">
              <a:solidFill>
                <a:prstClr val="black"/>
              </a:solidFill>
              <a:latin typeface="Calibri"/>
            </a:endParaRPr>
          </a:p>
        </p:txBody>
      </p:sp>
      <p:cxnSp>
        <p:nvCxnSpPr>
          <p:cNvPr id="21" name="Straight Arrow Connector 20"/>
          <p:cNvCxnSpPr/>
          <p:nvPr/>
        </p:nvCxnSpPr>
        <p:spPr>
          <a:xfrm flipH="1">
            <a:off x="6589493" y="4445927"/>
            <a:ext cx="238064" cy="468216"/>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300356" y="3855868"/>
            <a:ext cx="2232580" cy="468779"/>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a:rPr>
              <a:t>rating on similar item</a:t>
            </a:r>
            <a:endParaRPr lang="en-US" i="1" dirty="0">
              <a:solidFill>
                <a:prstClr val="white"/>
              </a:solidFill>
              <a:latin typeface="Calibri"/>
            </a:endParaRPr>
          </a:p>
        </p:txBody>
      </p:sp>
      <p:cxnSp>
        <p:nvCxnSpPr>
          <p:cNvPr id="23" name="Straight Arrow Connector 22"/>
          <p:cNvCxnSpPr/>
          <p:nvPr/>
        </p:nvCxnSpPr>
        <p:spPr>
          <a:xfrm flipH="1">
            <a:off x="5587887" y="4445927"/>
            <a:ext cx="38037" cy="361994"/>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5008793" y="3855867"/>
            <a:ext cx="1506032" cy="527688"/>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a:rPr>
              <a:t>similarity as weight</a:t>
            </a:r>
            <a:endParaRPr lang="en-US" i="1" dirty="0">
              <a:solidFill>
                <a:prstClr val="white"/>
              </a:solidFill>
              <a:latin typeface="Calibri"/>
            </a:endParaRPr>
          </a:p>
        </p:txBody>
      </p:sp>
      <p:cxnSp>
        <p:nvCxnSpPr>
          <p:cNvPr id="25" name="Straight Arrow Connector 24"/>
          <p:cNvCxnSpPr/>
          <p:nvPr/>
        </p:nvCxnSpPr>
        <p:spPr>
          <a:xfrm>
            <a:off x="4738820" y="4324648"/>
            <a:ext cx="265229" cy="392827"/>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25"/>
          <p:cNvSpPr/>
          <p:nvPr/>
        </p:nvSpPr>
        <p:spPr>
          <a:xfrm>
            <a:off x="3267501" y="3855869"/>
            <a:ext cx="1736547" cy="468779"/>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a:rPr>
              <a:t>most similar items to </a:t>
            </a:r>
            <a:r>
              <a:rPr lang="en-US" i="1" dirty="0" err="1">
                <a:solidFill>
                  <a:srgbClr val="002060"/>
                </a:solidFill>
                <a:latin typeface="Calibri"/>
              </a:rPr>
              <a:t>i</a:t>
            </a:r>
            <a:endParaRPr lang="en-US" i="1" dirty="0">
              <a:solidFill>
                <a:prstClr val="white"/>
              </a:solidFill>
              <a:latin typeface="Calibri"/>
            </a:endParaRPr>
          </a:p>
        </p:txBody>
      </p:sp>
      <p:sp>
        <p:nvSpPr>
          <p:cNvPr id="42" name="Slide Number Placeholder 41"/>
          <p:cNvSpPr>
            <a:spLocks noGrp="1"/>
          </p:cNvSpPr>
          <p:nvPr>
            <p:ph type="sldNum" sz="quarter" idx="12"/>
          </p:nvPr>
        </p:nvSpPr>
        <p:spPr/>
        <p:txBody>
          <a:bodyPr/>
          <a:lstStyle/>
          <a:p>
            <a:fld id="{47B15160-EDE8-4310-8486-6C75C1592384}" type="slidenum">
              <a:rPr lang="el-GR">
                <a:solidFill>
                  <a:prstClr val="black">
                    <a:tint val="75000"/>
                  </a:prstClr>
                </a:solidFill>
                <a:latin typeface="Calibri"/>
              </a:rPr>
              <a:pPr/>
              <a:t>8</a:t>
            </a:fld>
            <a:endParaRPr lang="el-GR">
              <a:solidFill>
                <a:prstClr val="black">
                  <a:tint val="75000"/>
                </a:prstClr>
              </a:solidFill>
              <a:latin typeface="Calibri"/>
            </a:endParaRPr>
          </a:p>
        </p:txBody>
      </p:sp>
      <p:sp>
        <p:nvSpPr>
          <p:cNvPr id="27" name="TextBox 26"/>
          <p:cNvSpPr txBox="1"/>
          <p:nvPr/>
        </p:nvSpPr>
        <p:spPr>
          <a:xfrm>
            <a:off x="1055915" y="422354"/>
            <a:ext cx="1447334" cy="584775"/>
          </a:xfrm>
          <a:prstGeom prst="rect">
            <a:avLst/>
          </a:prstGeom>
          <a:noFill/>
        </p:spPr>
        <p:txBody>
          <a:bodyPr wrap="square" rtlCol="0">
            <a:spAutoFit/>
          </a:bodyPr>
          <a:lstStyle/>
          <a:p>
            <a:r>
              <a:rPr lang="en-US" sz="3200" b="1" kern="0" dirty="0">
                <a:solidFill>
                  <a:srgbClr val="E7E6E6">
                    <a:lumMod val="10000"/>
                  </a:srgbClr>
                </a:solidFill>
                <a:latin typeface="Calibri"/>
              </a:rPr>
              <a:t>IBCF</a:t>
            </a:r>
            <a:endParaRPr lang="el-GR" sz="3200" dirty="0">
              <a:solidFill>
                <a:prstClr val="black"/>
              </a:solidFill>
              <a:latin typeface="Calibri"/>
            </a:endParaRPr>
          </a:p>
        </p:txBody>
      </p:sp>
    </p:spTree>
    <p:extLst>
      <p:ext uri="{BB962C8B-B14F-4D97-AF65-F5344CB8AC3E}">
        <p14:creationId xmlns:p14="http://schemas.microsoft.com/office/powerpoint/2010/main" val="349497141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6223</TotalTime>
  <Words>741</Words>
  <Application>Microsoft Office PowerPoint</Application>
  <PresentationFormat>On-screen Show (4:3)</PresentationFormat>
  <Paragraphs>86</Paragraphs>
  <Slides>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Verdana</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Evripidis Tzamousis</dc:creator>
  <cp:lastModifiedBy>Minoo Sayyadpour</cp:lastModifiedBy>
  <cp:revision>275</cp:revision>
  <cp:lastPrinted>2017-11-20T13:13:50Z</cp:lastPrinted>
  <dcterms:created xsi:type="dcterms:W3CDTF">2017-11-16T09:19:04Z</dcterms:created>
  <dcterms:modified xsi:type="dcterms:W3CDTF">2024-09-17T11:50:58Z</dcterms:modified>
</cp:coreProperties>
</file>